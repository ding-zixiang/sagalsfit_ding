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9" r:id="rId5"/>
    <p:sldId id="290" r:id="rId6"/>
    <p:sldId id="287" r:id="rId7"/>
    <p:sldId id="288" r:id="rId8"/>
    <p:sldId id="281" r:id="rId9"/>
    <p:sldId id="282" r:id="rId10"/>
    <p:sldId id="291" r:id="rId11"/>
    <p:sldId id="292" r:id="rId12"/>
    <p:sldId id="293" r:id="rId13"/>
    <p:sldId id="286" r:id="rId14"/>
    <p:sldId id="289" r:id="rId15"/>
  </p:sldIdLst>
  <p:sldSz cx="9144000" cy="6858000" type="screen4x3"/>
  <p:notesSz cx="6807200" cy="9939338"/>
  <p:defaultTextStyle>
    <a:defPPr>
      <a:defRPr lang="ja-JP"/>
    </a:defPPr>
    <a:lvl1pPr algn="l" rtl="0" fontAlgn="base">
      <a:spcBef>
        <a:spcPct val="2000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0000FF"/>
    <a:srgbClr val="CC6600"/>
    <a:srgbClr val="FFFF99"/>
    <a:srgbClr val="000000"/>
    <a:srgbClr val="993300"/>
    <a:srgbClr val="CCFF33"/>
    <a:srgbClr val="33CC33"/>
    <a:srgbClr val="FFCC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7DA27-C891-49E0-94F3-D16A17C92AD7}" v="3" dt="2025-09-04T05:19:54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0918" autoAdjust="0"/>
  </p:normalViewPr>
  <p:slideViewPr>
    <p:cSldViewPr snapToObjects="1">
      <p:cViewPr varScale="1">
        <p:scale>
          <a:sx n="80" d="100"/>
          <a:sy n="80" d="100"/>
        </p:scale>
        <p:origin x="1788" y="51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拓郎" userId="1844e2f0-4bca-41ff-a81d-0d7ddb61191f" providerId="ADAL" clId="{0A0E125F-AFC9-49BA-9E24-B76B675D4801}"/>
    <pc:docChg chg="modSld">
      <pc:chgData name="拓郎" userId="1844e2f0-4bca-41ff-a81d-0d7ddb61191f" providerId="ADAL" clId="{0A0E125F-AFC9-49BA-9E24-B76B675D4801}" dt="2024-12-09T08:13:37.252" v="72" actId="1076"/>
      <pc:docMkLst>
        <pc:docMk/>
      </pc:docMkLst>
      <pc:sldChg chg="addSp modSp mod">
        <pc:chgData name="拓郎" userId="1844e2f0-4bca-41ff-a81d-0d7ddb61191f" providerId="ADAL" clId="{0A0E125F-AFC9-49BA-9E24-B76B675D4801}" dt="2024-12-09T08:13:37.252" v="72" actId="1076"/>
        <pc:sldMkLst>
          <pc:docMk/>
          <pc:sldMk cId="3765644084" sldId="277"/>
        </pc:sldMkLst>
      </pc:sldChg>
    </pc:docChg>
  </pc:docChgLst>
  <pc:docChgLst>
    <pc:chgData name="Kouno Takurou (髙野 拓郎)" userId="1844e2f0-4bca-41ff-a81d-0d7ddb61191f" providerId="ADAL" clId="{3234BF42-F0EE-439C-A3B9-212E141CE702}"/>
    <pc:docChg chg="undo custSel addSld modSld">
      <pc:chgData name="Kouno Takurou (髙野 拓郎)" userId="1844e2f0-4bca-41ff-a81d-0d7ddb61191f" providerId="ADAL" clId="{3234BF42-F0EE-439C-A3B9-212E141CE702}" dt="2024-12-10T01:09:26.732" v="1289" actId="1035"/>
      <pc:docMkLst>
        <pc:docMk/>
      </pc:docMkLst>
      <pc:sldChg chg="addSp delSp modSp mod">
        <pc:chgData name="Kouno Takurou (髙野 拓郎)" userId="1844e2f0-4bca-41ff-a81d-0d7ddb61191f" providerId="ADAL" clId="{3234BF42-F0EE-439C-A3B9-212E141CE702}" dt="2024-12-10T00:31:26.487" v="545" actId="478"/>
        <pc:sldMkLst>
          <pc:docMk/>
          <pc:sldMk cId="3765644084" sldId="277"/>
        </pc:sldMkLst>
      </pc:sldChg>
      <pc:sldChg chg="addSp modSp add mod">
        <pc:chgData name="Kouno Takurou (髙野 拓郎)" userId="1844e2f0-4bca-41ff-a81d-0d7ddb61191f" providerId="ADAL" clId="{3234BF42-F0EE-439C-A3B9-212E141CE702}" dt="2024-12-10T00:44:13.412" v="759" actId="1037"/>
        <pc:sldMkLst>
          <pc:docMk/>
          <pc:sldMk cId="1555107137" sldId="278"/>
        </pc:sldMkLst>
      </pc:sldChg>
      <pc:sldChg chg="addSp delSp modSp add mod">
        <pc:chgData name="Kouno Takurou (髙野 拓郎)" userId="1844e2f0-4bca-41ff-a81d-0d7ddb61191f" providerId="ADAL" clId="{3234BF42-F0EE-439C-A3B9-212E141CE702}" dt="2024-12-10T01:09:26.732" v="1289" actId="1035"/>
        <pc:sldMkLst>
          <pc:docMk/>
          <pc:sldMk cId="4137698993" sldId="279"/>
        </pc:sldMkLst>
      </pc:sldChg>
    </pc:docChg>
  </pc:docChgLst>
  <pc:docChgLst>
    <pc:chgData name="咨翔 丁" userId="879b47ae8c6d12b3" providerId="LiveId" clId="{D4627C4C-96E9-41AE-B2E4-DD4464E70A10}"/>
    <pc:docChg chg="modSld">
      <pc:chgData name="咨翔 丁" userId="879b47ae8c6d12b3" providerId="LiveId" clId="{D4627C4C-96E9-41AE-B2E4-DD4464E70A10}" dt="2025-09-04T05:19:54.513" v="3"/>
      <pc:docMkLst>
        <pc:docMk/>
      </pc:docMkLst>
      <pc:sldChg chg="modSp mod">
        <pc:chgData name="咨翔 丁" userId="879b47ae8c6d12b3" providerId="LiveId" clId="{D4627C4C-96E9-41AE-B2E4-DD4464E70A10}" dt="2025-09-04T05:19:54.513" v="3"/>
        <pc:sldMkLst>
          <pc:docMk/>
          <pc:sldMk cId="1073634743" sldId="290"/>
        </pc:sldMkLst>
        <pc:graphicFrameChg chg="mod">
          <ac:chgData name="咨翔 丁" userId="879b47ae8c6d12b3" providerId="LiveId" clId="{D4627C4C-96E9-41AE-B2E4-DD4464E70A10}" dt="2025-09-04T05:19:54.513" v="3"/>
          <ac:graphicFrameMkLst>
            <pc:docMk/>
            <pc:sldMk cId="1073634743" sldId="290"/>
            <ac:graphicFrameMk id="6" creationId="{924160B3-EA1E-7A47-8C25-D7C900154F8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625" y="944245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54D124E-99B6-42DB-A624-01C98E14D0B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59137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91100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44245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F0BC662B-9081-442E-B9A6-2722E2DECB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0127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58213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499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60499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 userDrawn="1"/>
        </p:nvSpPr>
        <p:spPr bwMode="auto">
          <a:xfrm>
            <a:off x="5470525" y="2514600"/>
            <a:ext cx="5794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914400" y="3657600"/>
            <a:ext cx="72390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/>
          <a:lstStyle/>
          <a:p>
            <a:endParaRPr lang="ja-JP" altLang="en-US"/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1752600" y="3657600"/>
            <a:ext cx="5410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/>
          <a:lstStyle/>
          <a:p>
            <a:endParaRPr lang="ja-JP" altLang="en-US"/>
          </a:p>
        </p:txBody>
      </p:sp>
      <p:sp>
        <p:nvSpPr>
          <p:cNvPr id="11" name="正方形/長方形 11"/>
          <p:cNvSpPr>
            <a:spLocks noChangeArrowheads="1"/>
          </p:cNvSpPr>
          <p:nvPr userDrawn="1"/>
        </p:nvSpPr>
        <p:spPr bwMode="auto">
          <a:xfrm>
            <a:off x="0" y="6569075"/>
            <a:ext cx="9144000" cy="287338"/>
          </a:xfrm>
          <a:prstGeom prst="rect">
            <a:avLst/>
          </a:prstGeom>
          <a:solidFill>
            <a:srgbClr val="0E5C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600" tIns="39600" rIns="75600" bIns="39600"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endParaRPr lang="ja-JP" altLang="en-US" sz="2400"/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514600"/>
            <a:ext cx="7772400" cy="1143000"/>
          </a:xfrm>
        </p:spPr>
        <p:txBody>
          <a:bodyPr/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ja-JP" altLang="en-US" noProof="0" dirty="0"/>
              <a:t>マスタ タイトルの書式設定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914400"/>
          </a:xfrm>
        </p:spPr>
        <p:txBody>
          <a:bodyPr/>
          <a:lstStyle>
            <a:lvl1pPr marL="0" indent="0" algn="ctr">
              <a:buFontTx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ja-JP" altLang="en-US" noProof="0" dirty="0"/>
              <a:t>マスタ サブタイトルの書式設定</a:t>
            </a:r>
          </a:p>
        </p:txBody>
      </p:sp>
      <p:sp>
        <p:nvSpPr>
          <p:cNvPr id="16" name="フッター プレースホルダー 3">
            <a:extLst>
              <a:ext uri="{FF2B5EF4-FFF2-40B4-BE49-F238E27FC236}">
                <a16:creationId xmlns:a16="http://schemas.microsoft.com/office/drawing/2014/main" id="{E94FAE8A-1457-483D-A778-38E6E0338E8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003550" y="6622876"/>
            <a:ext cx="31369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ctr" eaLnBrk="1" hangingPunct="1">
              <a:buFontTx/>
              <a:buNone/>
              <a:defRPr/>
            </a:pPr>
            <a:r>
              <a:rPr lang="en-US" altLang="ja-JP" sz="800" dirty="0">
                <a:solidFill>
                  <a:schemeClr val="bg1"/>
                </a:solidFill>
                <a:latin typeface="+mn-lt"/>
                <a:ea typeface="BIZ UDPゴシック" panose="020B0400000000000000" pitchFamily="50" charset="-128"/>
              </a:rPr>
              <a:t>© 2024 NIDEK CO., LTD. </a:t>
            </a:r>
          </a:p>
        </p:txBody>
      </p:sp>
      <p:pic>
        <p:nvPicPr>
          <p:cNvPr id="17" name="Picture 8" descr="\\Nr002\企画部\企画部専用\広報課\06_ブランド管理（その他）\パワーポイントテンプレート\2017年度\PPTデザイン案\image\tagline_white.gif">
            <a:extLst>
              <a:ext uri="{FF2B5EF4-FFF2-40B4-BE49-F238E27FC236}">
                <a16:creationId xmlns:a16="http://schemas.microsoft.com/office/drawing/2014/main" id="{05C5D122-63E9-4E4F-9636-E48D12F1CC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6656388"/>
            <a:ext cx="12954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図 18" descr="ロゴ, 会社名&#10;&#10;自動的に生成された説明">
            <a:extLst>
              <a:ext uri="{FF2B5EF4-FFF2-40B4-BE49-F238E27FC236}">
                <a16:creationId xmlns:a16="http://schemas.microsoft.com/office/drawing/2014/main" id="{BB46565B-92FA-41F4-9CEE-858A9F0A0C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36" y="316149"/>
            <a:ext cx="1178888" cy="88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10"/>
          <p:cNvSpPr>
            <a:spLocks noChangeArrowheads="1"/>
          </p:cNvSpPr>
          <p:nvPr userDrawn="1"/>
        </p:nvSpPr>
        <p:spPr bwMode="auto">
          <a:xfrm>
            <a:off x="0" y="0"/>
            <a:ext cx="9144000" cy="260350"/>
          </a:xfrm>
          <a:prstGeom prst="rect">
            <a:avLst/>
          </a:prstGeom>
          <a:solidFill>
            <a:srgbClr val="0E5C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600" tIns="39600" rIns="75600" bIns="39600"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endParaRPr lang="ja-JP" altLang="en-US" sz="240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8600" y="404664"/>
            <a:ext cx="8686800" cy="648072"/>
          </a:xfrm>
        </p:spPr>
        <p:txBody>
          <a:bodyPr/>
          <a:lstStyle>
            <a:lvl1pPr>
              <a:defRPr sz="3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pic>
        <p:nvPicPr>
          <p:cNvPr id="6" name="図 5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81620596-C78D-4FF6-B5DA-0E0471FBC1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38" y="6629869"/>
            <a:ext cx="652174" cy="180000"/>
          </a:xfrm>
          <a:prstGeom prst="rect">
            <a:avLst/>
          </a:prstGeom>
        </p:spPr>
      </p:pic>
      <p:sp>
        <p:nvSpPr>
          <p:cNvPr id="7" name="スライド番号プレースホルダー 2">
            <a:extLst>
              <a:ext uri="{FF2B5EF4-FFF2-40B4-BE49-F238E27FC236}">
                <a16:creationId xmlns:a16="http://schemas.microsoft.com/office/drawing/2014/main" id="{0D67FD6B-7872-4369-B21C-D3BC8291F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6660033"/>
            <a:ext cx="2057400" cy="162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421EDD1-EE9D-47D8-8480-02FCC65D66F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054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55"/>
          <p:cNvSpPr txBox="1">
            <a:spLocks noChangeArrowheads="1"/>
          </p:cNvSpPr>
          <p:nvPr userDrawn="1"/>
        </p:nvSpPr>
        <p:spPr bwMode="auto">
          <a:xfrm>
            <a:off x="58213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1027" name="Text Box 58"/>
          <p:cNvSpPr txBox="1">
            <a:spLocks noChangeArrowheads="1"/>
          </p:cNvSpPr>
          <p:nvPr userDrawn="1"/>
        </p:nvSpPr>
        <p:spPr bwMode="auto">
          <a:xfrm>
            <a:off x="60499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1028" name="Text Box 59"/>
          <p:cNvSpPr txBox="1">
            <a:spLocks noChangeArrowheads="1"/>
          </p:cNvSpPr>
          <p:nvPr userDrawn="1"/>
        </p:nvSpPr>
        <p:spPr bwMode="auto">
          <a:xfrm>
            <a:off x="6049963" y="2743200"/>
            <a:ext cx="5794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1029" name="Text Box 62"/>
          <p:cNvSpPr txBox="1">
            <a:spLocks noChangeArrowheads="1"/>
          </p:cNvSpPr>
          <p:nvPr userDrawn="1"/>
        </p:nvSpPr>
        <p:spPr bwMode="auto">
          <a:xfrm>
            <a:off x="5470525" y="2514600"/>
            <a:ext cx="5794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46"/>
                    </a:gs>
                    <a:gs pos="100000">
                      <a:srgbClr val="FFFF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76200" tIns="38100" rIns="76200" bIns="3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ja-JP" altLang="ja-JP" sz="2800">
              <a:latin typeface="Times New Roman" charset="0"/>
            </a:endParaRPr>
          </a:p>
        </p:txBody>
      </p:sp>
      <p:sp>
        <p:nvSpPr>
          <p:cNvPr id="1030" name="Rectangle 7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72839"/>
            <a:ext cx="86868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31" name="Rectangle 7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81558"/>
            <a:ext cx="8686800" cy="511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3" name="正方形/長方形 11"/>
          <p:cNvSpPr>
            <a:spLocks noChangeArrowheads="1"/>
          </p:cNvSpPr>
          <p:nvPr userDrawn="1"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0E5C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600" tIns="39600" rIns="75600" bIns="39600"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endParaRPr lang="ja-JP" altLang="en-US" sz="2400"/>
          </a:p>
        </p:txBody>
      </p:sp>
      <p:sp>
        <p:nvSpPr>
          <p:cNvPr id="15" name="正方形/長方形 10">
            <a:extLst>
              <a:ext uri="{FF2B5EF4-FFF2-40B4-BE49-F238E27FC236}">
                <a16:creationId xmlns:a16="http://schemas.microsoft.com/office/drawing/2014/main" id="{964E7A5D-1932-4CA6-9647-80AB65B2BC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260350"/>
          </a:xfrm>
          <a:prstGeom prst="rect">
            <a:avLst/>
          </a:prstGeom>
          <a:solidFill>
            <a:srgbClr val="0E5C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600" tIns="39600" rIns="75600" bIns="39600"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endParaRPr lang="ja-JP" altLang="en-US" sz="2400"/>
          </a:p>
        </p:txBody>
      </p:sp>
      <p:sp>
        <p:nvSpPr>
          <p:cNvPr id="19" name="フッター プレースホルダー 3">
            <a:extLst>
              <a:ext uri="{FF2B5EF4-FFF2-40B4-BE49-F238E27FC236}">
                <a16:creationId xmlns:a16="http://schemas.microsoft.com/office/drawing/2014/main" id="{B1561437-AC95-4F0C-A6E5-23D15D3BC2D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827588" y="6622876"/>
            <a:ext cx="31369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r" eaLnBrk="1" hangingPunct="1">
              <a:buFontTx/>
              <a:buNone/>
              <a:defRPr/>
            </a:pPr>
            <a:r>
              <a:rPr lang="en-US" altLang="ja-JP" sz="800" dirty="0">
                <a:solidFill>
                  <a:schemeClr val="bg1"/>
                </a:solidFill>
                <a:latin typeface="+mn-lt"/>
                <a:ea typeface="BIZ UDPゴシック" panose="020B0400000000000000" pitchFamily="50" charset="-128"/>
              </a:rPr>
              <a:t>© 2024 NIDEK CO., LTD. </a:t>
            </a:r>
          </a:p>
        </p:txBody>
      </p:sp>
      <p:sp>
        <p:nvSpPr>
          <p:cNvPr id="12" name="スライド番号プレースホルダー 2">
            <a:extLst>
              <a:ext uri="{FF2B5EF4-FFF2-40B4-BE49-F238E27FC236}">
                <a16:creationId xmlns:a16="http://schemas.microsoft.com/office/drawing/2014/main" id="{F4EE1894-AADF-410B-9FB7-D5F60E976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6660033"/>
            <a:ext cx="2057400" cy="162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421EDD1-EE9D-47D8-8480-02FCC65D66F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kumimoji="1" sz="28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kumimoji="1" sz="28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kumimoji="1" sz="24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kumimoji="1" sz="20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kumimoji="1" sz="20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ja-JP" altLang="en-US" dirty="0"/>
              <a:t>株式会社ニデック</a:t>
            </a:r>
          </a:p>
          <a:p>
            <a:pPr eaLnBrk="1" hangingPunct="1"/>
            <a:r>
              <a:rPr lang="ja-JP" altLang="en-US" dirty="0"/>
              <a:t>　</a:t>
            </a:r>
            <a:r>
              <a:rPr lang="en-US" altLang="ja-JP" dirty="0"/>
              <a:t>2025/1/8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JST-CREST</a:t>
            </a:r>
            <a:br>
              <a:rPr lang="en-US" altLang="ja-JP" dirty="0"/>
            </a:br>
            <a:r>
              <a:rPr lang="en-US" altLang="ja-JP" dirty="0"/>
              <a:t>2024Sample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881B64-61BB-E994-3D8E-EAE0A104151E}"/>
              </a:ext>
            </a:extLst>
          </p:cNvPr>
          <p:cNvSpPr txBox="1"/>
          <p:nvPr/>
        </p:nvSpPr>
        <p:spPr>
          <a:xfrm>
            <a:off x="7573416" y="0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9345B2-F75A-2935-9818-5CC1818FD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924160B3-EA1E-7A47-8C25-D7C900154F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688978"/>
              </p:ext>
            </p:extLst>
          </p:nvPr>
        </p:nvGraphicFramePr>
        <p:xfrm>
          <a:off x="703263" y="1203325"/>
          <a:ext cx="6943725" cy="451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19574" imgH="3652911" progId="Excel.Sheet.12">
                  <p:embed/>
                </p:oleObj>
              </mc:Choice>
              <mc:Fallback>
                <p:oleObj name="Worksheet" r:id="rId2" imgW="5619574" imgH="3652911" progId="Excel.Sheet.12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924160B3-EA1E-7A47-8C25-D7C900154F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3263" y="1203325"/>
                        <a:ext cx="6943725" cy="451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3DB157-A606-E1FC-291C-EBA06A446652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63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39AA11-9C8E-F5B4-8D2E-391C99C72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3B6E52E-408F-8372-A622-C0A1CA0AFB92}"/>
              </a:ext>
            </a:extLst>
          </p:cNvPr>
          <p:cNvSpPr/>
          <p:nvPr/>
        </p:nvSpPr>
        <p:spPr bwMode="auto">
          <a:xfrm>
            <a:off x="1177679" y="2816247"/>
            <a:ext cx="924241" cy="464695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4C1EB6-D19E-9A5C-53E2-068506F4216F}"/>
              </a:ext>
            </a:extLst>
          </p:cNvPr>
          <p:cNvSpPr/>
          <p:nvPr/>
        </p:nvSpPr>
        <p:spPr>
          <a:xfrm flipV="1">
            <a:off x="221237" y="3269384"/>
            <a:ext cx="2986876" cy="23454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97C075-C791-BEBA-9D72-88060E19AAB7}"/>
              </a:ext>
            </a:extLst>
          </p:cNvPr>
          <p:cNvSpPr/>
          <p:nvPr/>
        </p:nvSpPr>
        <p:spPr>
          <a:xfrm flipV="1">
            <a:off x="1224617" y="3269384"/>
            <a:ext cx="820974" cy="194595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3ECDBDB-C89D-EAEB-06CF-3D4F1E4D6810}"/>
              </a:ext>
            </a:extLst>
          </p:cNvPr>
          <p:cNvSpPr/>
          <p:nvPr/>
        </p:nvSpPr>
        <p:spPr>
          <a:xfrm flipV="1">
            <a:off x="1285925" y="3122629"/>
            <a:ext cx="703848" cy="20256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96A2352-167B-7847-EFE1-BE1DDC04BDB5}"/>
              </a:ext>
            </a:extLst>
          </p:cNvPr>
          <p:cNvSpPr/>
          <p:nvPr/>
        </p:nvSpPr>
        <p:spPr>
          <a:xfrm flipV="1">
            <a:off x="1354482" y="3122627"/>
            <a:ext cx="570231" cy="1946941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E710D6-E47C-3F09-DFDB-06DE1C7EF709}"/>
              </a:ext>
            </a:extLst>
          </p:cNvPr>
          <p:cNvSpPr/>
          <p:nvPr/>
        </p:nvSpPr>
        <p:spPr bwMode="auto">
          <a:xfrm>
            <a:off x="1924713" y="3050622"/>
            <a:ext cx="177207" cy="900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8AB912C-9009-787F-3884-540E19C340AC}"/>
              </a:ext>
            </a:extLst>
          </p:cNvPr>
          <p:cNvSpPr/>
          <p:nvPr/>
        </p:nvSpPr>
        <p:spPr bwMode="auto">
          <a:xfrm>
            <a:off x="1177679" y="3050622"/>
            <a:ext cx="176803" cy="7200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4273E69-1119-2695-BD08-F6D1CCAF8FE7}"/>
              </a:ext>
            </a:extLst>
          </p:cNvPr>
          <p:cNvSpPr/>
          <p:nvPr/>
        </p:nvSpPr>
        <p:spPr bwMode="auto">
          <a:xfrm>
            <a:off x="1989773" y="3122630"/>
            <a:ext cx="1218340" cy="148066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B274E30-6962-4869-93C0-1F2E75AD7275}"/>
              </a:ext>
            </a:extLst>
          </p:cNvPr>
          <p:cNvSpPr/>
          <p:nvPr/>
        </p:nvSpPr>
        <p:spPr bwMode="auto">
          <a:xfrm>
            <a:off x="221237" y="3122630"/>
            <a:ext cx="1064688" cy="148066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31291D9A-93FC-2BAD-D26F-B8FA98756ABA}"/>
              </a:ext>
            </a:extLst>
          </p:cNvPr>
          <p:cNvCxnSpPr>
            <a:cxnSpLocks/>
          </p:cNvCxnSpPr>
          <p:nvPr/>
        </p:nvCxnSpPr>
        <p:spPr bwMode="auto">
          <a:xfrm flipH="1">
            <a:off x="3270772" y="5684649"/>
            <a:ext cx="1055762" cy="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5915DDB-0898-8A47-F609-381E9C44AB57}"/>
              </a:ext>
            </a:extLst>
          </p:cNvPr>
          <p:cNvCxnSpPr/>
          <p:nvPr/>
        </p:nvCxnSpPr>
        <p:spPr bwMode="auto">
          <a:xfrm>
            <a:off x="1675845" y="2156166"/>
            <a:ext cx="0" cy="578306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BC33D24-609E-FB8B-A6AC-69AE2ACCA730}"/>
              </a:ext>
            </a:extLst>
          </p:cNvPr>
          <p:cNvCxnSpPr/>
          <p:nvPr/>
        </p:nvCxnSpPr>
        <p:spPr bwMode="auto">
          <a:xfrm flipH="1">
            <a:off x="1688780" y="2167136"/>
            <a:ext cx="2624386" cy="1102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3082A0D-0AE4-B28E-A3F4-AEE168E6DBC5}"/>
              </a:ext>
            </a:extLst>
          </p:cNvPr>
          <p:cNvCxnSpPr/>
          <p:nvPr/>
        </p:nvCxnSpPr>
        <p:spPr bwMode="auto">
          <a:xfrm flipV="1">
            <a:off x="4101715" y="2994739"/>
            <a:ext cx="390201" cy="40422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7AF7C3-7C12-5DDA-3400-2A79DBCBF76D}"/>
              </a:ext>
            </a:extLst>
          </p:cNvPr>
          <p:cNvSpPr txBox="1"/>
          <p:nvPr/>
        </p:nvSpPr>
        <p:spPr>
          <a:xfrm>
            <a:off x="3735593" y="3309744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baseline="-25000" dirty="0"/>
              <a:t>V </a:t>
            </a:r>
            <a:r>
              <a:rPr kumimoji="1" lang="en-US" altLang="ja-JP" baseline="-25000" dirty="0"/>
              <a:t>[V] </a:t>
            </a:r>
            <a:endParaRPr kumimoji="1" lang="ja-JP" altLang="en-US" i="1" baseline="-25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2EAFF8-010B-29CE-4848-EFC48407B787}"/>
              </a:ext>
            </a:extLst>
          </p:cNvPr>
          <p:cNvSpPr txBox="1"/>
          <p:nvPr/>
        </p:nvSpPr>
        <p:spPr>
          <a:xfrm>
            <a:off x="2016209" y="1640646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baseline="-25000" dirty="0"/>
              <a:t>I</a:t>
            </a:r>
            <a:r>
              <a:rPr kumimoji="1" lang="en-US" altLang="ja-JP" i="1" baseline="-25000" dirty="0"/>
              <a:t> </a:t>
            </a:r>
            <a:r>
              <a:rPr kumimoji="1" lang="en-US" altLang="ja-JP" baseline="-25000" dirty="0"/>
              <a:t>[A] </a:t>
            </a:r>
            <a:endParaRPr kumimoji="1" lang="ja-JP" altLang="en-US" i="1" baseline="-25000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09F9C3B-E28E-3DFE-E0A1-41A986355604}"/>
              </a:ext>
            </a:extLst>
          </p:cNvPr>
          <p:cNvCxnSpPr/>
          <p:nvPr/>
        </p:nvCxnSpPr>
        <p:spPr bwMode="auto">
          <a:xfrm flipH="1">
            <a:off x="1759144" y="2051921"/>
            <a:ext cx="839799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4A2B0E6-CFE5-1080-B569-FB1463193523}"/>
              </a:ext>
            </a:extLst>
          </p:cNvPr>
          <p:cNvCxnSpPr/>
          <p:nvPr/>
        </p:nvCxnSpPr>
        <p:spPr bwMode="auto">
          <a:xfrm>
            <a:off x="3294345" y="3373662"/>
            <a:ext cx="0" cy="224113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小波 21">
            <a:extLst>
              <a:ext uri="{FF2B5EF4-FFF2-40B4-BE49-F238E27FC236}">
                <a16:creationId xmlns:a16="http://schemas.microsoft.com/office/drawing/2014/main" id="{9E60DEFC-C665-9376-44B4-472118773E45}"/>
              </a:ext>
            </a:extLst>
          </p:cNvPr>
          <p:cNvSpPr/>
          <p:nvPr/>
        </p:nvSpPr>
        <p:spPr bwMode="auto">
          <a:xfrm>
            <a:off x="-90" y="5307633"/>
            <a:ext cx="426575" cy="135920"/>
          </a:xfrm>
          <a:prstGeom prst="doubleWave">
            <a:avLst>
              <a:gd name="adj1" fmla="val 6250"/>
              <a:gd name="adj2" fmla="val -4593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3" name="小波 22">
            <a:extLst>
              <a:ext uri="{FF2B5EF4-FFF2-40B4-BE49-F238E27FC236}">
                <a16:creationId xmlns:a16="http://schemas.microsoft.com/office/drawing/2014/main" id="{0DEB75B3-C5E3-A5FF-1F6B-5F784FBDE6A0}"/>
              </a:ext>
            </a:extLst>
          </p:cNvPr>
          <p:cNvSpPr/>
          <p:nvPr/>
        </p:nvSpPr>
        <p:spPr bwMode="auto">
          <a:xfrm>
            <a:off x="2831766" y="5278392"/>
            <a:ext cx="426575" cy="135920"/>
          </a:xfrm>
          <a:prstGeom prst="doubleWave">
            <a:avLst>
              <a:gd name="adj1" fmla="val 6250"/>
              <a:gd name="adj2" fmla="val -4593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66E4B2A-DAC9-74AA-704D-420A8F34FD45}"/>
              </a:ext>
            </a:extLst>
          </p:cNvPr>
          <p:cNvSpPr txBox="1"/>
          <p:nvPr/>
        </p:nvSpPr>
        <p:spPr>
          <a:xfrm>
            <a:off x="3276670" y="4307446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250 µm</a:t>
            </a:r>
            <a:endParaRPr kumimoji="1" lang="ja-JP" altLang="en-US" sz="16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8E29543-D930-203F-8FE1-25D71FD00848}"/>
              </a:ext>
            </a:extLst>
          </p:cNvPr>
          <p:cNvSpPr txBox="1"/>
          <p:nvPr/>
        </p:nvSpPr>
        <p:spPr>
          <a:xfrm>
            <a:off x="2084400" y="4168894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50 µm</a:t>
            </a:r>
            <a:endParaRPr kumimoji="1" lang="ja-JP" altLang="en-US" sz="160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562474C-2C24-665E-3BE2-B118833C0DED}"/>
              </a:ext>
            </a:extLst>
          </p:cNvPr>
          <p:cNvCxnSpPr/>
          <p:nvPr/>
        </p:nvCxnSpPr>
        <p:spPr bwMode="auto">
          <a:xfrm>
            <a:off x="2092603" y="3382544"/>
            <a:ext cx="0" cy="185217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02410A8-966F-3302-5593-CABBF5E05FA9}"/>
              </a:ext>
            </a:extLst>
          </p:cNvPr>
          <p:cNvSpPr txBox="1"/>
          <p:nvPr/>
        </p:nvSpPr>
        <p:spPr>
          <a:xfrm>
            <a:off x="1257436" y="5285427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10 µm</a:t>
            </a:r>
            <a:endParaRPr kumimoji="1" lang="ja-JP" altLang="en-US" sz="16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192541E-0F25-FC73-C7A8-D686BE58775C}"/>
              </a:ext>
            </a:extLst>
          </p:cNvPr>
          <p:cNvCxnSpPr/>
          <p:nvPr/>
        </p:nvCxnSpPr>
        <p:spPr bwMode="auto">
          <a:xfrm rot="5400000">
            <a:off x="1633274" y="4863184"/>
            <a:ext cx="0" cy="86405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8036462-D6E2-7E98-7B55-76407BF9E6AE}"/>
              </a:ext>
            </a:extLst>
          </p:cNvPr>
          <p:cNvCxnSpPr/>
          <p:nvPr/>
        </p:nvCxnSpPr>
        <p:spPr bwMode="auto">
          <a:xfrm>
            <a:off x="3296279" y="3110056"/>
            <a:ext cx="0" cy="17094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A6225BB-DE05-0296-3F2B-B8953480FC18}"/>
              </a:ext>
            </a:extLst>
          </p:cNvPr>
          <p:cNvSpPr txBox="1"/>
          <p:nvPr/>
        </p:nvSpPr>
        <p:spPr>
          <a:xfrm>
            <a:off x="3276670" y="2987526"/>
            <a:ext cx="813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1.5 µm</a:t>
            </a:r>
            <a:endParaRPr kumimoji="1" lang="ja-JP" altLang="en-US" sz="16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715ECEF-F72B-6E1E-D293-8B25837E5F7B}"/>
              </a:ext>
            </a:extLst>
          </p:cNvPr>
          <p:cNvSpPr txBox="1"/>
          <p:nvPr/>
        </p:nvSpPr>
        <p:spPr>
          <a:xfrm>
            <a:off x="2171125" y="2582808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TEOS-SiO</a:t>
            </a:r>
            <a:r>
              <a:rPr kumimoji="1" lang="en-US" altLang="ja-JP" sz="1800" baseline="-25000" dirty="0"/>
              <a:t>2</a:t>
            </a:r>
            <a:endParaRPr kumimoji="1" lang="ja-JP" altLang="en-US" sz="1800" baseline="-250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D47DC78-6339-4F51-D69E-3CBC86DE920E}"/>
              </a:ext>
            </a:extLst>
          </p:cNvPr>
          <p:cNvSpPr txBox="1"/>
          <p:nvPr/>
        </p:nvSpPr>
        <p:spPr>
          <a:xfrm>
            <a:off x="701411" y="4212349"/>
            <a:ext cx="3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Ti</a:t>
            </a:r>
            <a:endParaRPr kumimoji="1" lang="ja-JP" altLang="en-US" sz="1800" baseline="-250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E3C64D1-9635-F004-E729-551C3012D1F3}"/>
              </a:ext>
            </a:extLst>
          </p:cNvPr>
          <p:cNvSpPr txBox="1"/>
          <p:nvPr/>
        </p:nvSpPr>
        <p:spPr>
          <a:xfrm>
            <a:off x="649113" y="450744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Cu</a:t>
            </a:r>
            <a:endParaRPr kumimoji="1" lang="ja-JP" altLang="en-US" sz="1800" baseline="-25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1C8CA41-DD9D-0492-2382-DA1E44856C1D}"/>
              </a:ext>
            </a:extLst>
          </p:cNvPr>
          <p:cNvSpPr txBox="1"/>
          <p:nvPr/>
        </p:nvSpPr>
        <p:spPr>
          <a:xfrm>
            <a:off x="517041" y="520614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Si</a:t>
            </a:r>
            <a:endParaRPr kumimoji="1" lang="ja-JP" altLang="en-US" sz="1800" baseline="-25000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0FB0FC93-911E-6833-3FA4-3B73E50C2AC3}"/>
              </a:ext>
            </a:extLst>
          </p:cNvPr>
          <p:cNvCxnSpPr/>
          <p:nvPr/>
        </p:nvCxnSpPr>
        <p:spPr bwMode="auto">
          <a:xfrm flipH="1">
            <a:off x="2400233" y="2955599"/>
            <a:ext cx="165689" cy="24106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2BFFC6E-3CF3-1ECA-178C-2C6FB6836D96}"/>
              </a:ext>
            </a:extLst>
          </p:cNvPr>
          <p:cNvCxnSpPr/>
          <p:nvPr/>
        </p:nvCxnSpPr>
        <p:spPr bwMode="auto">
          <a:xfrm flipV="1">
            <a:off x="1069845" y="4307446"/>
            <a:ext cx="284637" cy="8321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65F9CAB-8FED-9155-629E-F715AE25F86F}"/>
              </a:ext>
            </a:extLst>
          </p:cNvPr>
          <p:cNvCxnSpPr>
            <a:stCxn id="33" idx="3"/>
          </p:cNvCxnSpPr>
          <p:nvPr/>
        </p:nvCxnSpPr>
        <p:spPr bwMode="auto">
          <a:xfrm flipV="1">
            <a:off x="1128731" y="4581681"/>
            <a:ext cx="506775" cy="11043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6C4986E-65AE-B75C-CAEC-1006FDE5AAA7}"/>
              </a:ext>
            </a:extLst>
          </p:cNvPr>
          <p:cNvSpPr txBox="1"/>
          <p:nvPr/>
        </p:nvSpPr>
        <p:spPr>
          <a:xfrm>
            <a:off x="928998" y="126348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断面構造模式図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ECD41DC-FCC1-D978-5D82-A17E30880C44}"/>
              </a:ext>
            </a:extLst>
          </p:cNvPr>
          <p:cNvSpPr/>
          <p:nvPr/>
        </p:nvSpPr>
        <p:spPr bwMode="auto">
          <a:xfrm>
            <a:off x="221237" y="5584669"/>
            <a:ext cx="298687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3CD41A2-DF5F-538D-E77B-EB7485EB4683}"/>
              </a:ext>
            </a:extLst>
          </p:cNvPr>
          <p:cNvSpPr/>
          <p:nvPr/>
        </p:nvSpPr>
        <p:spPr bwMode="auto">
          <a:xfrm>
            <a:off x="221237" y="5630748"/>
            <a:ext cx="2986875" cy="107802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4E820F0-1A24-BF7D-68FF-8D16D1449081}"/>
              </a:ext>
            </a:extLst>
          </p:cNvPr>
          <p:cNvCxnSpPr/>
          <p:nvPr/>
        </p:nvCxnSpPr>
        <p:spPr bwMode="auto">
          <a:xfrm>
            <a:off x="4317872" y="2157326"/>
            <a:ext cx="0" cy="929635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8792F12-5E52-C620-CB6C-46F54154649E}"/>
              </a:ext>
            </a:extLst>
          </p:cNvPr>
          <p:cNvCxnSpPr/>
          <p:nvPr/>
        </p:nvCxnSpPr>
        <p:spPr bwMode="auto">
          <a:xfrm>
            <a:off x="4317872" y="3290123"/>
            <a:ext cx="0" cy="2409413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7B96C0D8-7304-C4CD-CB02-C78A9A92CFB7}"/>
              </a:ext>
            </a:extLst>
          </p:cNvPr>
          <p:cNvGrpSpPr/>
          <p:nvPr/>
        </p:nvGrpSpPr>
        <p:grpSpPr>
          <a:xfrm rot="16200000">
            <a:off x="4219730" y="2942054"/>
            <a:ext cx="196283" cy="499855"/>
            <a:chOff x="1606668" y="1090108"/>
            <a:chExt cx="196283" cy="499855"/>
          </a:xfrm>
        </p:grpSpPr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5D3B80C0-676A-69C1-3EE3-A35E2E053A44}"/>
                </a:ext>
              </a:extLst>
            </p:cNvPr>
            <p:cNvCxnSpPr/>
            <p:nvPr/>
          </p:nvCxnSpPr>
          <p:spPr bwMode="auto">
            <a:xfrm rot="5400000">
              <a:off x="1553023" y="1340036"/>
              <a:ext cx="49985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0007DA33-6F91-94DC-CC25-5A1A94DDA694}"/>
                </a:ext>
              </a:extLst>
            </p:cNvPr>
            <p:cNvCxnSpPr/>
            <p:nvPr/>
          </p:nvCxnSpPr>
          <p:spPr bwMode="auto">
            <a:xfrm rot="5400000">
              <a:off x="1490075" y="1335330"/>
              <a:ext cx="233186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6EA8056A-D328-079A-B0FF-340158F65B05}"/>
              </a:ext>
            </a:extLst>
          </p:cNvPr>
          <p:cNvCxnSpPr/>
          <p:nvPr/>
        </p:nvCxnSpPr>
        <p:spPr bwMode="auto">
          <a:xfrm>
            <a:off x="4317872" y="5699536"/>
            <a:ext cx="0" cy="177736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91786F9-EC5A-A9D4-25A4-C815AE82BCF5}"/>
              </a:ext>
            </a:extLst>
          </p:cNvPr>
          <p:cNvCxnSpPr/>
          <p:nvPr/>
        </p:nvCxnSpPr>
        <p:spPr bwMode="auto">
          <a:xfrm>
            <a:off x="4155001" y="5877272"/>
            <a:ext cx="29903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91C253B2-0C22-D0AF-FB0F-59D0BAD4C8A2}"/>
              </a:ext>
            </a:extLst>
          </p:cNvPr>
          <p:cNvCxnSpPr/>
          <p:nvPr/>
        </p:nvCxnSpPr>
        <p:spPr bwMode="auto">
          <a:xfrm flipH="1">
            <a:off x="4176888" y="5877272"/>
            <a:ext cx="52577" cy="7200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BC6722F7-80BD-1C43-B949-9881CD67CA82}"/>
              </a:ext>
            </a:extLst>
          </p:cNvPr>
          <p:cNvCxnSpPr/>
          <p:nvPr/>
        </p:nvCxnSpPr>
        <p:spPr bwMode="auto">
          <a:xfrm flipH="1">
            <a:off x="4273957" y="5877272"/>
            <a:ext cx="52577" cy="7200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D0ADADBE-7076-111A-5E17-EF03B182C2CF}"/>
              </a:ext>
            </a:extLst>
          </p:cNvPr>
          <p:cNvCxnSpPr/>
          <p:nvPr/>
        </p:nvCxnSpPr>
        <p:spPr bwMode="auto">
          <a:xfrm flipH="1">
            <a:off x="4371025" y="5877272"/>
            <a:ext cx="52577" cy="7200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8709310-2FCA-714E-2579-82235C637AD2}"/>
              </a:ext>
            </a:extLst>
          </p:cNvPr>
          <p:cNvSpPr txBox="1"/>
          <p:nvPr/>
        </p:nvSpPr>
        <p:spPr>
          <a:xfrm>
            <a:off x="39299" y="274136"/>
            <a:ext cx="6511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I/V特性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評価用</a:t>
            </a:r>
            <a:r>
              <a:rPr lang="en-US" altLang="ja-JP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TEG</a:t>
            </a:r>
            <a:r>
              <a:rPr lang="ja-JP" altLang="ja-JP" sz="2400" b="0" i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　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0DF699C-F2FB-072A-9FC7-D4B0A8133836}"/>
              </a:ext>
            </a:extLst>
          </p:cNvPr>
          <p:cNvSpPr txBox="1"/>
          <p:nvPr/>
        </p:nvSpPr>
        <p:spPr>
          <a:xfrm>
            <a:off x="4791963" y="1144371"/>
            <a:ext cx="432645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・</a:t>
            </a:r>
            <a:r>
              <a:rPr lang="en-US" altLang="ja-JP" sz="2000" dirty="0"/>
              <a:t>2021</a:t>
            </a:r>
            <a:r>
              <a:rPr lang="ja-JP" altLang="en-US" sz="2000" dirty="0"/>
              <a:t>年度以来品と同等</a:t>
            </a:r>
            <a:endParaRPr lang="en-US" altLang="ja-JP" sz="2000" dirty="0"/>
          </a:p>
          <a:p>
            <a:r>
              <a:rPr lang="ja-JP" altLang="en-US" sz="2000" dirty="0"/>
              <a:t>・マスクパターン変更なし</a:t>
            </a:r>
            <a:endParaRPr lang="en-US" altLang="ja-JP" sz="2000" dirty="0"/>
          </a:p>
          <a:p>
            <a:r>
              <a:rPr lang="ja-JP" altLang="en-US" sz="2000" dirty="0"/>
              <a:t>・裏面オーミック電極での測定実績あり</a:t>
            </a:r>
            <a:endParaRPr lang="en-US" altLang="ja-JP" sz="2000" dirty="0"/>
          </a:p>
          <a:p>
            <a:r>
              <a:rPr kumimoji="1" lang="ja-JP" altLang="en-US" sz="2000" dirty="0"/>
              <a:t>・赤枠部分の膜厚評価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8422CA0-7149-64C0-FCC6-B1CC42F39839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5132F498-6DE6-300F-65B9-B672FCC90D61}"/>
              </a:ext>
            </a:extLst>
          </p:cNvPr>
          <p:cNvSpPr/>
          <p:nvPr/>
        </p:nvSpPr>
        <p:spPr bwMode="auto">
          <a:xfrm>
            <a:off x="1131545" y="4768840"/>
            <a:ext cx="285966" cy="34648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727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C26C1F-FBC9-811F-EFD0-B411D7700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032108-C2B3-82F5-7FED-B2A0EF3B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00297"/>
            <a:ext cx="4320480" cy="578103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24EDE6-CDDC-AAEA-A041-7FC483EE8FCD}"/>
              </a:ext>
            </a:extLst>
          </p:cNvPr>
          <p:cNvSpPr txBox="1"/>
          <p:nvPr/>
        </p:nvSpPr>
        <p:spPr>
          <a:xfrm flipH="1">
            <a:off x="9749" y="260648"/>
            <a:ext cx="326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➁全行程表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A71C29-0C81-B8E6-7CF6-5059FDA70834}"/>
              </a:ext>
            </a:extLst>
          </p:cNvPr>
          <p:cNvSpPr txBox="1"/>
          <p:nvPr/>
        </p:nvSpPr>
        <p:spPr>
          <a:xfrm>
            <a:off x="5004048" y="670215"/>
            <a:ext cx="3744416" cy="2363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800" dirty="0"/>
              <a:t>D-RIE</a:t>
            </a:r>
            <a:r>
              <a:rPr kumimoji="1" lang="ja-JP" altLang="en-US" sz="1800" dirty="0"/>
              <a:t>条件</a:t>
            </a:r>
            <a:endParaRPr kumimoji="1" lang="en-US" altLang="ja-JP" sz="1800" dirty="0"/>
          </a:p>
          <a:p>
            <a:r>
              <a:rPr lang="ja-JP" altLang="en-US" sz="1800" dirty="0"/>
              <a:t>・</a:t>
            </a:r>
            <a:r>
              <a:rPr lang="en-US" altLang="ja-JP" sz="1800" dirty="0"/>
              <a:t>10Pa, ICP 40W, 400V Duty 20%</a:t>
            </a:r>
          </a:p>
          <a:p>
            <a:r>
              <a:rPr lang="en-US" altLang="ja-JP" sz="1800" dirty="0"/>
              <a:t>  C</a:t>
            </a:r>
            <a:r>
              <a:rPr lang="en-US" altLang="ja-JP" sz="1800" baseline="-25000" dirty="0"/>
              <a:t>4</a:t>
            </a:r>
            <a:r>
              <a:rPr lang="en-US" altLang="ja-JP" sz="1800" dirty="0"/>
              <a:t>F</a:t>
            </a:r>
            <a:r>
              <a:rPr lang="en-US" altLang="ja-JP" sz="1800" baseline="-25000" dirty="0"/>
              <a:t>8</a:t>
            </a:r>
            <a:r>
              <a:rPr lang="en-US" altLang="ja-JP" sz="1800" dirty="0"/>
              <a:t>: 8 </a:t>
            </a:r>
            <a:r>
              <a:rPr lang="en-US" altLang="ja-JP" sz="1800" dirty="0" err="1"/>
              <a:t>sccm</a:t>
            </a:r>
            <a:r>
              <a:rPr lang="en-US" altLang="ja-JP" sz="1800" dirty="0"/>
              <a:t>, SF</a:t>
            </a:r>
            <a:r>
              <a:rPr lang="en-US" altLang="ja-JP" sz="1800" baseline="-25000" dirty="0"/>
              <a:t>6</a:t>
            </a:r>
            <a:r>
              <a:rPr lang="en-US" altLang="ja-JP" sz="1800" dirty="0"/>
              <a:t>: 8sccm</a:t>
            </a:r>
          </a:p>
          <a:p>
            <a:r>
              <a:rPr kumimoji="1" lang="ja-JP" altLang="en-US" sz="1800" dirty="0"/>
              <a:t>・スキャロップあり</a:t>
            </a:r>
            <a:endParaRPr kumimoji="1" lang="en-US" altLang="ja-JP" sz="1800" dirty="0"/>
          </a:p>
          <a:p>
            <a:r>
              <a:rPr lang="ja-JP" altLang="en-US" sz="1800" dirty="0"/>
              <a:t>　</a:t>
            </a:r>
            <a:r>
              <a:rPr lang="en-US" altLang="ja-JP" sz="1800" dirty="0"/>
              <a:t>1cycle</a:t>
            </a:r>
            <a:r>
              <a:rPr lang="ja-JP" altLang="en-US" sz="1800" dirty="0"/>
              <a:t>　</a:t>
            </a:r>
            <a:r>
              <a:rPr lang="en-US" altLang="ja-JP" sz="1800" dirty="0"/>
              <a:t>40</a:t>
            </a:r>
            <a:r>
              <a:rPr lang="ja-JP" altLang="en-US" sz="1800" dirty="0"/>
              <a:t>ｓ</a:t>
            </a:r>
            <a:endParaRPr lang="en-US" altLang="ja-JP" sz="1800" dirty="0"/>
          </a:p>
          <a:p>
            <a:r>
              <a:rPr kumimoji="1" lang="ja-JP" altLang="en-US" sz="1800" dirty="0"/>
              <a:t>・スキャロップ無し</a:t>
            </a:r>
            <a:endParaRPr kumimoji="1" lang="en-US" altLang="ja-JP" sz="1800" dirty="0"/>
          </a:p>
          <a:p>
            <a:r>
              <a:rPr lang="ja-JP" altLang="en-US" sz="1800" dirty="0"/>
              <a:t>　</a:t>
            </a:r>
            <a:r>
              <a:rPr lang="en-US" altLang="ja-JP" sz="1800" dirty="0"/>
              <a:t>1cycle</a:t>
            </a:r>
            <a:r>
              <a:rPr lang="ja-JP" altLang="en-US" sz="1800" dirty="0"/>
              <a:t>　</a:t>
            </a:r>
            <a:r>
              <a:rPr lang="en-US" altLang="ja-JP" sz="1800" dirty="0"/>
              <a:t>10</a:t>
            </a:r>
            <a:r>
              <a:rPr lang="ja-JP" altLang="en-US" sz="1800" dirty="0"/>
              <a:t>ｓ</a:t>
            </a:r>
            <a:endParaRPr kumimoji="1" lang="ja-JP" altLang="en-US" sz="1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3244E2-1869-2CBD-18BE-788366EB0737}"/>
              </a:ext>
            </a:extLst>
          </p:cNvPr>
          <p:cNvSpPr txBox="1"/>
          <p:nvPr/>
        </p:nvSpPr>
        <p:spPr>
          <a:xfrm>
            <a:off x="5004048" y="4293096"/>
            <a:ext cx="3744416" cy="16989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800" dirty="0"/>
              <a:t>TEOS-</a:t>
            </a:r>
            <a:r>
              <a:rPr kumimoji="1" lang="en-US" altLang="ja-JP" sz="1800" dirty="0" err="1"/>
              <a:t>SiO</a:t>
            </a:r>
            <a:r>
              <a:rPr kumimoji="1" lang="ja-JP" altLang="en-US" sz="1800" dirty="0"/>
              <a:t>₂成膜条件</a:t>
            </a:r>
            <a:endParaRPr lang="en-US" altLang="ja-JP" sz="1800" dirty="0"/>
          </a:p>
          <a:p>
            <a:r>
              <a:rPr lang="ja-JP" altLang="en-US" sz="1800" dirty="0"/>
              <a:t>・温度</a:t>
            </a:r>
            <a:endParaRPr lang="en-US" altLang="ja-JP" sz="1800" dirty="0"/>
          </a:p>
          <a:p>
            <a:r>
              <a:rPr kumimoji="1" lang="ja-JP" altLang="en-US" sz="1800" dirty="0"/>
              <a:t>　</a:t>
            </a:r>
            <a:r>
              <a:rPr kumimoji="1" lang="en-US" altLang="ja-JP" sz="1800" dirty="0"/>
              <a:t>200, 225, 250, 275, 300</a:t>
            </a:r>
            <a:r>
              <a:rPr kumimoji="1" lang="ja-JP" altLang="en-US" sz="1800" dirty="0"/>
              <a:t>℃</a:t>
            </a:r>
            <a:endParaRPr kumimoji="1" lang="en-US" altLang="ja-JP" sz="1800" dirty="0"/>
          </a:p>
          <a:p>
            <a:r>
              <a:rPr lang="ja-JP" altLang="en-US" sz="1800" dirty="0"/>
              <a:t>・厚み </a:t>
            </a:r>
            <a:r>
              <a:rPr lang="en-US" altLang="ja-JP" sz="1800" dirty="0"/>
              <a:t>(</a:t>
            </a:r>
            <a:r>
              <a:rPr lang="ja-JP" altLang="en-US" sz="1800" dirty="0"/>
              <a:t>赤枠測定</a:t>
            </a:r>
            <a:r>
              <a:rPr lang="en-US" altLang="ja-JP" sz="1800" dirty="0"/>
              <a:t>)</a:t>
            </a:r>
          </a:p>
          <a:p>
            <a:r>
              <a:rPr kumimoji="1" lang="ja-JP" altLang="en-US" sz="1800" dirty="0"/>
              <a:t>　</a:t>
            </a:r>
            <a:r>
              <a:rPr kumimoji="1" lang="en-US" altLang="ja-JP" sz="1800" dirty="0"/>
              <a:t>min. 200 nm</a:t>
            </a:r>
            <a:endParaRPr kumimoji="1" lang="ja-JP" altLang="en-US" sz="18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03A5BFA-BFE2-BAB1-2EA1-FFD5E0638C06}"/>
              </a:ext>
            </a:extLst>
          </p:cNvPr>
          <p:cNvCxnSpPr/>
          <p:nvPr/>
        </p:nvCxnSpPr>
        <p:spPr bwMode="auto">
          <a:xfrm flipH="1">
            <a:off x="4427984" y="3737601"/>
            <a:ext cx="288032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683034-9F50-0FF8-9E30-C84257AE8E20}"/>
              </a:ext>
            </a:extLst>
          </p:cNvPr>
          <p:cNvSpPr txBox="1"/>
          <p:nvPr/>
        </p:nvSpPr>
        <p:spPr>
          <a:xfrm>
            <a:off x="4669755" y="3568324"/>
            <a:ext cx="2778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ミニマル</a:t>
            </a:r>
            <a:r>
              <a:rPr kumimoji="1" lang="en-US" altLang="ja-JP" sz="1600" dirty="0"/>
              <a:t>TEOS</a:t>
            </a:r>
            <a:r>
              <a:rPr kumimoji="1" lang="ja-JP" altLang="en-US" sz="1600" dirty="0"/>
              <a:t>　</a:t>
            </a:r>
            <a:r>
              <a:rPr kumimoji="1" lang="en-US" altLang="ja-JP" sz="1600" dirty="0"/>
              <a:t>PE-CVD</a:t>
            </a:r>
            <a:r>
              <a:rPr kumimoji="1" lang="ja-JP" altLang="en-US" sz="1600" dirty="0"/>
              <a:t>使用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8B07C7-FE2C-C9D8-76BE-18A442B7D41D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E5C86AAE-974E-6C78-965B-35016F1F62F2}"/>
              </a:ext>
            </a:extLst>
          </p:cNvPr>
          <p:cNvCxnSpPr/>
          <p:nvPr/>
        </p:nvCxnSpPr>
        <p:spPr bwMode="auto">
          <a:xfrm flipH="1">
            <a:off x="4258272" y="5501190"/>
            <a:ext cx="288032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6B8D56-1732-765C-1C42-78529BD30F28}"/>
              </a:ext>
            </a:extLst>
          </p:cNvPr>
          <p:cNvSpPr txBox="1"/>
          <p:nvPr/>
        </p:nvSpPr>
        <p:spPr>
          <a:xfrm>
            <a:off x="4644059" y="6096460"/>
            <a:ext cx="21162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ニデック研磨装置</a:t>
            </a:r>
            <a:r>
              <a:rPr kumimoji="1" lang="ja-JP" altLang="en-US" sz="1600" dirty="0"/>
              <a:t>使用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81EFAF6-209F-F1E8-C237-93F36217A99F}"/>
              </a:ext>
            </a:extLst>
          </p:cNvPr>
          <p:cNvCxnSpPr>
            <a:endCxn id="3" idx="1"/>
          </p:cNvCxnSpPr>
          <p:nvPr/>
        </p:nvCxnSpPr>
        <p:spPr bwMode="auto">
          <a:xfrm>
            <a:off x="4546304" y="5533274"/>
            <a:ext cx="97755" cy="73246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4394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B72C1F-4AD1-91EE-DDB1-CC93CA1E9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221DC71-9B29-E834-573B-5048F9769206}"/>
              </a:ext>
            </a:extLst>
          </p:cNvPr>
          <p:cNvSpPr/>
          <p:nvPr/>
        </p:nvSpPr>
        <p:spPr>
          <a:xfrm flipV="1">
            <a:off x="221236" y="3747888"/>
            <a:ext cx="4710804" cy="23454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BA4E19-578C-0D84-E397-279F4EA03688}"/>
              </a:ext>
            </a:extLst>
          </p:cNvPr>
          <p:cNvSpPr/>
          <p:nvPr/>
        </p:nvSpPr>
        <p:spPr bwMode="auto">
          <a:xfrm>
            <a:off x="221237" y="3601134"/>
            <a:ext cx="425064" cy="148066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65380AE-1BF7-EE93-4090-BD59779CE80F}"/>
              </a:ext>
            </a:extLst>
          </p:cNvPr>
          <p:cNvSpPr/>
          <p:nvPr/>
        </p:nvSpPr>
        <p:spPr bwMode="auto">
          <a:xfrm>
            <a:off x="787499" y="3212976"/>
            <a:ext cx="1260237" cy="464705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1A7D50E-C675-F072-4744-333947ADB54C}"/>
              </a:ext>
            </a:extLst>
          </p:cNvPr>
          <p:cNvSpPr/>
          <p:nvPr/>
        </p:nvSpPr>
        <p:spPr>
          <a:xfrm flipV="1">
            <a:off x="1174083" y="3747888"/>
            <a:ext cx="421289" cy="194595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5CA5915-EB7E-332B-5F7C-563FEE27EB95}"/>
              </a:ext>
            </a:extLst>
          </p:cNvPr>
          <p:cNvSpPr/>
          <p:nvPr/>
        </p:nvSpPr>
        <p:spPr>
          <a:xfrm flipV="1">
            <a:off x="1206879" y="3592768"/>
            <a:ext cx="361186" cy="20340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3E8A244-8D9E-1CB2-2309-D0276A01B360}"/>
              </a:ext>
            </a:extLst>
          </p:cNvPr>
          <p:cNvSpPr/>
          <p:nvPr/>
        </p:nvSpPr>
        <p:spPr>
          <a:xfrm flipV="1">
            <a:off x="1242911" y="3592768"/>
            <a:ext cx="292618" cy="195530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19D4B39-8B4F-E40B-FAD5-FA9FC32C9D47}"/>
              </a:ext>
            </a:extLst>
          </p:cNvPr>
          <p:cNvSpPr/>
          <p:nvPr/>
        </p:nvSpPr>
        <p:spPr bwMode="auto">
          <a:xfrm>
            <a:off x="3131840" y="3559952"/>
            <a:ext cx="1260236" cy="45719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B56C9E3-8533-45B5-B15D-88D953FE0F3D}"/>
              </a:ext>
            </a:extLst>
          </p:cNvPr>
          <p:cNvSpPr/>
          <p:nvPr/>
        </p:nvSpPr>
        <p:spPr>
          <a:xfrm flipV="1">
            <a:off x="3506549" y="3747888"/>
            <a:ext cx="421289" cy="194595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E684E6F-2E75-A5EB-A77E-C8017DEB3BEF}"/>
              </a:ext>
            </a:extLst>
          </p:cNvPr>
          <p:cNvSpPr/>
          <p:nvPr/>
        </p:nvSpPr>
        <p:spPr>
          <a:xfrm flipV="1">
            <a:off x="3539345" y="3601133"/>
            <a:ext cx="361186" cy="20256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85F998C-A67A-DF0A-067D-1EB1C21A8528}"/>
              </a:ext>
            </a:extLst>
          </p:cNvPr>
          <p:cNvSpPr/>
          <p:nvPr/>
        </p:nvSpPr>
        <p:spPr>
          <a:xfrm flipV="1">
            <a:off x="3575377" y="3601131"/>
            <a:ext cx="292618" cy="1946941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C44AE51-0DB8-1FCA-2726-DE37CCBE7D98}"/>
              </a:ext>
            </a:extLst>
          </p:cNvPr>
          <p:cNvSpPr/>
          <p:nvPr/>
        </p:nvSpPr>
        <p:spPr bwMode="auto">
          <a:xfrm>
            <a:off x="787399" y="3593639"/>
            <a:ext cx="427827" cy="1473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C4E8C8E-2DEA-12D0-B0FD-218884CCBD6B}"/>
              </a:ext>
            </a:extLst>
          </p:cNvPr>
          <p:cNvSpPr/>
          <p:nvPr/>
        </p:nvSpPr>
        <p:spPr bwMode="auto">
          <a:xfrm>
            <a:off x="1535628" y="3593639"/>
            <a:ext cx="512111" cy="1473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BD033B6-AB17-BF54-0AA5-734D9980E1EE}"/>
              </a:ext>
            </a:extLst>
          </p:cNvPr>
          <p:cNvSpPr/>
          <p:nvPr/>
        </p:nvSpPr>
        <p:spPr bwMode="auto">
          <a:xfrm>
            <a:off x="3868094" y="3593638"/>
            <a:ext cx="52398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DBEB2A6-8534-99F2-44D9-FE6042972DF4}"/>
              </a:ext>
            </a:extLst>
          </p:cNvPr>
          <p:cNvSpPr/>
          <p:nvPr/>
        </p:nvSpPr>
        <p:spPr bwMode="auto">
          <a:xfrm>
            <a:off x="3131839" y="3592769"/>
            <a:ext cx="443539" cy="1177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C812FB5-BCC7-1B06-CA99-597CDF901475}"/>
              </a:ext>
            </a:extLst>
          </p:cNvPr>
          <p:cNvSpPr txBox="1"/>
          <p:nvPr/>
        </p:nvSpPr>
        <p:spPr>
          <a:xfrm>
            <a:off x="13640" y="260648"/>
            <a:ext cx="578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+mn-ea"/>
                <a:ea typeface="+mn-ea"/>
              </a:rPr>
              <a:t>IR-OBIRCH</a:t>
            </a:r>
            <a:r>
              <a:rPr lang="ja-JP" altLang="en-US" dirty="0">
                <a:latin typeface="+mn-ea"/>
                <a:ea typeface="+mn-ea"/>
              </a:rPr>
              <a:t>用</a:t>
            </a:r>
            <a:r>
              <a:rPr lang="en-US" altLang="ja-JP" dirty="0">
                <a:latin typeface="+mn-ea"/>
                <a:ea typeface="+mn-ea"/>
              </a:rPr>
              <a:t>TEG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CD8EFA5-095F-8940-3F10-B6A38DD2D87F}"/>
              </a:ext>
            </a:extLst>
          </p:cNvPr>
          <p:cNvSpPr/>
          <p:nvPr/>
        </p:nvSpPr>
        <p:spPr>
          <a:xfrm flipV="1">
            <a:off x="262978" y="1393847"/>
            <a:ext cx="4638796" cy="13150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776BCD4-39D8-49F4-7EB9-3834F338B57C}"/>
              </a:ext>
            </a:extLst>
          </p:cNvPr>
          <p:cNvSpPr/>
          <p:nvPr/>
        </p:nvSpPr>
        <p:spPr bwMode="auto">
          <a:xfrm>
            <a:off x="262978" y="1672566"/>
            <a:ext cx="420590" cy="680361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2418119-1A3E-2864-51F6-F972EE607116}"/>
              </a:ext>
            </a:extLst>
          </p:cNvPr>
          <p:cNvSpPr/>
          <p:nvPr/>
        </p:nvSpPr>
        <p:spPr bwMode="auto">
          <a:xfrm>
            <a:off x="1453249" y="1672566"/>
            <a:ext cx="684000" cy="680361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AE5F3E2-80A4-B9B5-BEB0-05F7052F483E}"/>
              </a:ext>
            </a:extLst>
          </p:cNvPr>
          <p:cNvSpPr/>
          <p:nvPr/>
        </p:nvSpPr>
        <p:spPr bwMode="auto">
          <a:xfrm>
            <a:off x="3124708" y="1672566"/>
            <a:ext cx="684000" cy="680361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6F097E0-D7FC-CA3A-8205-F67A8D6347DF}"/>
              </a:ext>
            </a:extLst>
          </p:cNvPr>
          <p:cNvSpPr/>
          <p:nvPr/>
        </p:nvSpPr>
        <p:spPr bwMode="auto">
          <a:xfrm>
            <a:off x="4416035" y="1672566"/>
            <a:ext cx="474281" cy="680361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F35169E-CED8-DEF6-1FA5-EC1B19AF590A}"/>
              </a:ext>
            </a:extLst>
          </p:cNvPr>
          <p:cNvSpPr/>
          <p:nvPr/>
        </p:nvSpPr>
        <p:spPr bwMode="auto">
          <a:xfrm>
            <a:off x="318847" y="1980835"/>
            <a:ext cx="122153" cy="113774"/>
          </a:xfrm>
          <a:prstGeom prst="ellipse">
            <a:avLst/>
          </a:prstGeom>
          <a:solidFill>
            <a:srgbClr val="CC6600"/>
          </a:solidFill>
          <a:ln w="9525" cap="flat" cmpd="sng" algn="ctr">
            <a:solidFill>
              <a:srgbClr val="99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E2396E11-E616-8632-9D78-C4CAB26EF90C}"/>
              </a:ext>
            </a:extLst>
          </p:cNvPr>
          <p:cNvSpPr/>
          <p:nvPr/>
        </p:nvSpPr>
        <p:spPr bwMode="auto">
          <a:xfrm>
            <a:off x="1723375" y="1938171"/>
            <a:ext cx="122153" cy="113774"/>
          </a:xfrm>
          <a:prstGeom prst="ellipse">
            <a:avLst/>
          </a:prstGeom>
          <a:solidFill>
            <a:srgbClr val="CC6600"/>
          </a:solidFill>
          <a:ln w="9525" cap="flat" cmpd="sng" algn="ctr">
            <a:solidFill>
              <a:srgbClr val="99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627EB5A2-578F-6EEE-C10E-5A7D6E84D6C8}"/>
              </a:ext>
            </a:extLst>
          </p:cNvPr>
          <p:cNvSpPr/>
          <p:nvPr/>
        </p:nvSpPr>
        <p:spPr bwMode="auto">
          <a:xfrm>
            <a:off x="3410442" y="1949368"/>
            <a:ext cx="122153" cy="113774"/>
          </a:xfrm>
          <a:prstGeom prst="ellipse">
            <a:avLst/>
          </a:prstGeom>
          <a:solidFill>
            <a:srgbClr val="CC6600"/>
          </a:solidFill>
          <a:ln w="9525" cap="flat" cmpd="sng" algn="ctr">
            <a:solidFill>
              <a:srgbClr val="99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0FA026A6-9AFD-AFCF-1B4C-8C6862A651B1}"/>
              </a:ext>
            </a:extLst>
          </p:cNvPr>
          <p:cNvSpPr/>
          <p:nvPr/>
        </p:nvSpPr>
        <p:spPr bwMode="auto">
          <a:xfrm>
            <a:off x="4737879" y="1927217"/>
            <a:ext cx="122153" cy="113774"/>
          </a:xfrm>
          <a:prstGeom prst="ellipse">
            <a:avLst/>
          </a:prstGeom>
          <a:solidFill>
            <a:srgbClr val="CC6600"/>
          </a:solidFill>
          <a:ln w="9525" cap="flat" cmpd="sng" algn="ctr">
            <a:solidFill>
              <a:srgbClr val="99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15B1C0C8-D34A-82E2-39D1-D1E85815E3B0}"/>
              </a:ext>
            </a:extLst>
          </p:cNvPr>
          <p:cNvSpPr txBox="1"/>
          <p:nvPr/>
        </p:nvSpPr>
        <p:spPr>
          <a:xfrm>
            <a:off x="1925270" y="812370"/>
            <a:ext cx="118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Top view</a:t>
            </a:r>
            <a:endParaRPr kumimoji="1" lang="ja-JP" altLang="en-US" sz="2000" dirty="0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BFC8FC5-F37C-54B2-6D05-F7E52F5F9B75}"/>
              </a:ext>
            </a:extLst>
          </p:cNvPr>
          <p:cNvCxnSpPr/>
          <p:nvPr/>
        </p:nvCxnSpPr>
        <p:spPr bwMode="auto">
          <a:xfrm>
            <a:off x="2132826" y="2061080"/>
            <a:ext cx="922537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AA9A239-1484-ECAC-328A-44CDACA29D4A}"/>
              </a:ext>
            </a:extLst>
          </p:cNvPr>
          <p:cNvSpPr txBox="1"/>
          <p:nvPr/>
        </p:nvSpPr>
        <p:spPr>
          <a:xfrm>
            <a:off x="2273564" y="1713391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5</a:t>
            </a:r>
            <a:r>
              <a:rPr kumimoji="1" lang="en-US" altLang="ja-JP" sz="1600" dirty="0">
                <a:solidFill>
                  <a:srgbClr val="FF0000"/>
                </a:solidFill>
              </a:rPr>
              <a:t>00 µm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B9DDB9CB-E2F2-5483-81FD-A342E4EBE74D}"/>
              </a:ext>
            </a:extLst>
          </p:cNvPr>
          <p:cNvCxnSpPr/>
          <p:nvPr/>
        </p:nvCxnSpPr>
        <p:spPr bwMode="auto">
          <a:xfrm>
            <a:off x="1463316" y="1627838"/>
            <a:ext cx="66951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E445F73-B343-4674-301A-8AFD645CE622}"/>
              </a:ext>
            </a:extLst>
          </p:cNvPr>
          <p:cNvSpPr txBox="1"/>
          <p:nvPr/>
        </p:nvSpPr>
        <p:spPr>
          <a:xfrm>
            <a:off x="1351277" y="1273112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50</a:t>
            </a:r>
            <a:r>
              <a:rPr kumimoji="1" lang="en-US" altLang="ja-JP" sz="1600" dirty="0">
                <a:solidFill>
                  <a:srgbClr val="FF0000"/>
                </a:solidFill>
              </a:rPr>
              <a:t>0 µm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082FCFA-A9A7-AEFB-C15C-2E7DE060B306}"/>
              </a:ext>
            </a:extLst>
          </p:cNvPr>
          <p:cNvSpPr txBox="1"/>
          <p:nvPr/>
        </p:nvSpPr>
        <p:spPr>
          <a:xfrm>
            <a:off x="601699" y="1865361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5</a:t>
            </a:r>
            <a:r>
              <a:rPr kumimoji="1" lang="en-US" altLang="ja-JP" sz="1600" dirty="0">
                <a:solidFill>
                  <a:srgbClr val="FF0000"/>
                </a:solidFill>
              </a:rPr>
              <a:t>00 µm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20ED562-8D3C-2F93-BD8C-498C1377617B}"/>
              </a:ext>
            </a:extLst>
          </p:cNvPr>
          <p:cNvSpPr txBox="1"/>
          <p:nvPr/>
        </p:nvSpPr>
        <p:spPr>
          <a:xfrm>
            <a:off x="1656425" y="4561454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50 µm</a:t>
            </a:r>
            <a:endParaRPr kumimoji="1" lang="ja-JP" altLang="en-US" sz="1600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5EF48099-3F3F-49E2-75F3-DFCC379981F7}"/>
              </a:ext>
            </a:extLst>
          </p:cNvPr>
          <p:cNvCxnSpPr/>
          <p:nvPr/>
        </p:nvCxnSpPr>
        <p:spPr bwMode="auto">
          <a:xfrm>
            <a:off x="1664628" y="3775104"/>
            <a:ext cx="0" cy="185217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63FDFC11-FC8C-C97B-8F8F-78F923BE6348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2047DED2-BA4D-6340-6FAE-57D3C061CEFF}"/>
              </a:ext>
            </a:extLst>
          </p:cNvPr>
          <p:cNvCxnSpPr/>
          <p:nvPr/>
        </p:nvCxnSpPr>
        <p:spPr bwMode="auto">
          <a:xfrm flipH="1">
            <a:off x="1212061" y="5796840"/>
            <a:ext cx="352708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3ACF0EC-B3F0-D276-BEF9-45E9FF9C6E3C}"/>
              </a:ext>
            </a:extLst>
          </p:cNvPr>
          <p:cNvSpPr txBox="1"/>
          <p:nvPr/>
        </p:nvSpPr>
        <p:spPr>
          <a:xfrm>
            <a:off x="1107996" y="573988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10 µm</a:t>
            </a:r>
            <a:endParaRPr kumimoji="1" lang="ja-JP" altLang="en-US" sz="16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6E90B07-40DE-880F-3ED1-B24DBA25C25B}"/>
              </a:ext>
            </a:extLst>
          </p:cNvPr>
          <p:cNvSpPr txBox="1"/>
          <p:nvPr/>
        </p:nvSpPr>
        <p:spPr>
          <a:xfrm>
            <a:off x="5379534" y="1137631"/>
            <a:ext cx="2629246" cy="1348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変更箇所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TSV</a:t>
            </a:r>
            <a:r>
              <a:rPr lang="ja-JP" altLang="en-US" dirty="0"/>
              <a:t>間距離</a:t>
            </a:r>
            <a:r>
              <a:rPr lang="en-US" altLang="ja-JP" dirty="0"/>
              <a:t>1 m</a:t>
            </a:r>
            <a:r>
              <a:rPr kumimoji="1" lang="en-US" altLang="ja-JP" sz="2400" dirty="0"/>
              <a:t>m</a:t>
            </a:r>
          </a:p>
          <a:p>
            <a:r>
              <a:rPr lang="ja-JP" altLang="en-US" dirty="0"/>
              <a:t>・表面パッド寸法</a:t>
            </a:r>
            <a:endParaRPr kumimoji="1" lang="en-US" altLang="ja-JP" sz="2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0B38AB9-AD71-6D46-C550-77A8FC09485B}"/>
              </a:ext>
            </a:extLst>
          </p:cNvPr>
          <p:cNvSpPr txBox="1"/>
          <p:nvPr/>
        </p:nvSpPr>
        <p:spPr>
          <a:xfrm>
            <a:off x="685921" y="2354281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10 µm</a:t>
            </a:r>
            <a:endParaRPr kumimoji="1" lang="ja-JP" altLang="en-US" sz="1600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E14AADA-7713-BDF0-AD12-5563E5796313}"/>
              </a:ext>
            </a:extLst>
          </p:cNvPr>
          <p:cNvCxnSpPr/>
          <p:nvPr/>
        </p:nvCxnSpPr>
        <p:spPr bwMode="auto">
          <a:xfrm>
            <a:off x="1748871" y="2276872"/>
            <a:ext cx="173179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E3E5DAE-ED33-6ED5-CBD8-CCE6FF56B0A8}"/>
              </a:ext>
            </a:extLst>
          </p:cNvPr>
          <p:cNvSpPr txBox="1"/>
          <p:nvPr/>
        </p:nvSpPr>
        <p:spPr>
          <a:xfrm>
            <a:off x="2177788" y="2206628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</a:rPr>
              <a:t>1 m</a:t>
            </a:r>
            <a:r>
              <a:rPr kumimoji="1" lang="en-US" altLang="ja-JP" sz="1600" dirty="0">
                <a:solidFill>
                  <a:srgbClr val="FF0000"/>
                </a:solidFill>
              </a:rPr>
              <a:t>m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353DD4B7-12E4-C625-4DAE-F2B1AE3CC849}"/>
              </a:ext>
            </a:extLst>
          </p:cNvPr>
          <p:cNvCxnSpPr>
            <a:endCxn id="42" idx="3"/>
          </p:cNvCxnSpPr>
          <p:nvPr/>
        </p:nvCxnSpPr>
        <p:spPr bwMode="auto">
          <a:xfrm flipV="1">
            <a:off x="1313197" y="2035283"/>
            <a:ext cx="428067" cy="40252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8936CD7C-AFE3-3B26-AFC4-31F955B73680}"/>
              </a:ext>
            </a:extLst>
          </p:cNvPr>
          <p:cNvCxnSpPr/>
          <p:nvPr/>
        </p:nvCxnSpPr>
        <p:spPr bwMode="auto">
          <a:xfrm rot="16200000">
            <a:off x="1067801" y="2026243"/>
            <a:ext cx="66951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F45CD4D-107C-F339-AF9F-709DFBA15993}"/>
              </a:ext>
            </a:extLst>
          </p:cNvPr>
          <p:cNvSpPr/>
          <p:nvPr/>
        </p:nvSpPr>
        <p:spPr bwMode="auto">
          <a:xfrm>
            <a:off x="3132986" y="3230304"/>
            <a:ext cx="1260237" cy="349140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CC173D-27CF-835F-589C-6469A114D511}"/>
              </a:ext>
            </a:extLst>
          </p:cNvPr>
          <p:cNvSpPr txBox="1"/>
          <p:nvPr/>
        </p:nvSpPr>
        <p:spPr>
          <a:xfrm>
            <a:off x="2056626" y="5782404"/>
            <a:ext cx="1228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FF0000"/>
                </a:solidFill>
              </a:rPr>
              <a:t>視野 </a:t>
            </a:r>
            <a:r>
              <a:rPr lang="en-US" altLang="ja-JP" sz="1600" dirty="0">
                <a:solidFill>
                  <a:srgbClr val="FF0000"/>
                </a:solidFill>
              </a:rPr>
              <a:t>65</a:t>
            </a:r>
            <a:r>
              <a:rPr kumimoji="1" lang="en-US" altLang="ja-JP" sz="1600" dirty="0">
                <a:solidFill>
                  <a:srgbClr val="FF0000"/>
                </a:solidFill>
              </a:rPr>
              <a:t> µm</a:t>
            </a:r>
            <a:endParaRPr kumimoji="1" lang="ja-JP" altLang="en-US" sz="1600" dirty="0">
              <a:solidFill>
                <a:srgbClr val="FF0000"/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6BE400-D722-B076-FABF-3F98919D1D96}"/>
              </a:ext>
            </a:extLst>
          </p:cNvPr>
          <p:cNvSpPr txBox="1"/>
          <p:nvPr/>
        </p:nvSpPr>
        <p:spPr>
          <a:xfrm>
            <a:off x="2280635" y="3967217"/>
            <a:ext cx="1236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アンダーカット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7D3C4ECD-43A8-30ED-E343-BFC2D3F5A5B6}"/>
              </a:ext>
            </a:extLst>
          </p:cNvPr>
          <p:cNvSpPr/>
          <p:nvPr/>
        </p:nvSpPr>
        <p:spPr bwMode="auto">
          <a:xfrm>
            <a:off x="1845847" y="2701777"/>
            <a:ext cx="1462315" cy="106517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C948AE0-7775-7C1A-EBFA-0AD9885F2FF1}"/>
              </a:ext>
            </a:extLst>
          </p:cNvPr>
          <p:cNvSpPr txBox="1"/>
          <p:nvPr/>
        </p:nvSpPr>
        <p:spPr>
          <a:xfrm>
            <a:off x="1187624" y="2763250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Cross-sectional</a:t>
            </a:r>
            <a:r>
              <a:rPr lang="ja-JP" altLang="en-US" sz="2000" dirty="0"/>
              <a:t> </a:t>
            </a:r>
            <a:r>
              <a:rPr kumimoji="1" lang="en-US" altLang="ja-JP" sz="2000" dirty="0"/>
              <a:t>view</a:t>
            </a:r>
            <a:endParaRPr kumimoji="1" lang="ja-JP" altLang="en-US" sz="20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0509968-6924-6792-5E21-6465C7A16E7F}"/>
              </a:ext>
            </a:extLst>
          </p:cNvPr>
          <p:cNvSpPr/>
          <p:nvPr/>
        </p:nvSpPr>
        <p:spPr bwMode="auto">
          <a:xfrm>
            <a:off x="1568066" y="3601134"/>
            <a:ext cx="1971280" cy="158312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DC29364-0869-3A9A-372C-FB40AD2967EC}"/>
              </a:ext>
            </a:extLst>
          </p:cNvPr>
          <p:cNvCxnSpPr/>
          <p:nvPr/>
        </p:nvCxnSpPr>
        <p:spPr bwMode="auto">
          <a:xfrm flipV="1">
            <a:off x="3132986" y="3423559"/>
            <a:ext cx="127739" cy="55116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楕円 55">
            <a:extLst>
              <a:ext uri="{FF2B5EF4-FFF2-40B4-BE49-F238E27FC236}">
                <a16:creationId xmlns:a16="http://schemas.microsoft.com/office/drawing/2014/main" id="{CA7CE77D-5EE0-B025-2B5E-F42E09E97450}"/>
              </a:ext>
            </a:extLst>
          </p:cNvPr>
          <p:cNvSpPr/>
          <p:nvPr/>
        </p:nvSpPr>
        <p:spPr bwMode="auto">
          <a:xfrm>
            <a:off x="4135332" y="2701777"/>
            <a:ext cx="1462315" cy="106517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B7BFAC3-F411-CCDD-F80F-282C1E0D5EE5}"/>
              </a:ext>
            </a:extLst>
          </p:cNvPr>
          <p:cNvSpPr/>
          <p:nvPr/>
        </p:nvSpPr>
        <p:spPr bwMode="auto">
          <a:xfrm>
            <a:off x="4525810" y="3601134"/>
            <a:ext cx="406229" cy="158312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7985694-4065-A030-BC41-051B3BB39C42}"/>
              </a:ext>
            </a:extLst>
          </p:cNvPr>
          <p:cNvSpPr/>
          <p:nvPr/>
        </p:nvSpPr>
        <p:spPr bwMode="auto">
          <a:xfrm>
            <a:off x="3895158" y="3601134"/>
            <a:ext cx="820857" cy="158312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03E5BCE-85C0-F8CF-5E51-8A6B354A31A1}"/>
              </a:ext>
            </a:extLst>
          </p:cNvPr>
          <p:cNvSpPr/>
          <p:nvPr/>
        </p:nvSpPr>
        <p:spPr bwMode="auto">
          <a:xfrm>
            <a:off x="4683219" y="3759446"/>
            <a:ext cx="248821" cy="162669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6B47164-4CBB-7155-97C0-2118CAAC5BF9}"/>
              </a:ext>
            </a:extLst>
          </p:cNvPr>
          <p:cNvSpPr/>
          <p:nvPr/>
        </p:nvSpPr>
        <p:spPr bwMode="auto">
          <a:xfrm>
            <a:off x="2450100" y="3759446"/>
            <a:ext cx="248821" cy="162669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6A25E4BB-29B8-26C3-B8CE-2BDF9D8CD34E}"/>
              </a:ext>
            </a:extLst>
          </p:cNvPr>
          <p:cNvSpPr/>
          <p:nvPr/>
        </p:nvSpPr>
        <p:spPr bwMode="auto">
          <a:xfrm>
            <a:off x="30427" y="2701777"/>
            <a:ext cx="952789" cy="106517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0F4B451-2E1F-F0DE-66F3-4C4F7424CAF7}"/>
              </a:ext>
            </a:extLst>
          </p:cNvPr>
          <p:cNvSpPr/>
          <p:nvPr/>
        </p:nvSpPr>
        <p:spPr bwMode="auto">
          <a:xfrm>
            <a:off x="221237" y="3601134"/>
            <a:ext cx="985543" cy="158312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C164EBB-5C4B-6C0C-575E-A4B049527557}"/>
              </a:ext>
            </a:extLst>
          </p:cNvPr>
          <p:cNvSpPr/>
          <p:nvPr/>
        </p:nvSpPr>
        <p:spPr bwMode="auto">
          <a:xfrm>
            <a:off x="238709" y="3759446"/>
            <a:ext cx="416504" cy="162669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A614ED4-3CB8-EE16-B628-06B21D08BFA1}"/>
              </a:ext>
            </a:extLst>
          </p:cNvPr>
          <p:cNvSpPr txBox="1"/>
          <p:nvPr/>
        </p:nvSpPr>
        <p:spPr>
          <a:xfrm>
            <a:off x="5404152" y="2692835"/>
            <a:ext cx="3416320" cy="1791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懸念事項</a:t>
            </a:r>
            <a:endParaRPr lang="en-US" altLang="ja-JP" dirty="0"/>
          </a:p>
          <a:p>
            <a:r>
              <a:rPr lang="ja-JP" altLang="en-US" dirty="0"/>
              <a:t>・断面作製時の金属拡散</a:t>
            </a:r>
            <a:endParaRPr lang="en-US" altLang="ja-JP" dirty="0"/>
          </a:p>
          <a:p>
            <a:r>
              <a:rPr kumimoji="1" lang="ja-JP" altLang="en-US" sz="2400" dirty="0"/>
              <a:t>・表面パッド形成</a:t>
            </a:r>
            <a:endParaRPr kumimoji="1" lang="en-US" altLang="ja-JP" sz="2400" dirty="0"/>
          </a:p>
          <a:p>
            <a:r>
              <a:rPr lang="ja-JP" altLang="en-US" dirty="0"/>
              <a:t>・断面作製位置精度</a:t>
            </a:r>
            <a:endParaRPr kumimoji="1" lang="en-US" altLang="ja-JP" sz="24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A607C63-16C8-38D8-EF38-126C8953B205}"/>
              </a:ext>
            </a:extLst>
          </p:cNvPr>
          <p:cNvCxnSpPr/>
          <p:nvPr/>
        </p:nvCxnSpPr>
        <p:spPr bwMode="auto">
          <a:xfrm>
            <a:off x="674918" y="3239710"/>
            <a:ext cx="0" cy="33503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AF5367-E5A2-FBD5-CC2E-3335D001BD98}"/>
              </a:ext>
            </a:extLst>
          </p:cNvPr>
          <p:cNvSpPr txBox="1"/>
          <p:nvPr/>
        </p:nvSpPr>
        <p:spPr>
          <a:xfrm>
            <a:off x="-73761" y="3216358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</a:t>
            </a:r>
            <a:r>
              <a:rPr kumimoji="1" lang="en-US" altLang="ja-JP" sz="1600" dirty="0"/>
              <a:t>0 µm</a:t>
            </a:r>
            <a:endParaRPr kumimoji="1" lang="ja-JP" altLang="en-US" sz="16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E728290-D69C-298F-3D6C-010B1F280020}"/>
              </a:ext>
            </a:extLst>
          </p:cNvPr>
          <p:cNvSpPr/>
          <p:nvPr/>
        </p:nvSpPr>
        <p:spPr bwMode="auto">
          <a:xfrm>
            <a:off x="387696" y="3759446"/>
            <a:ext cx="2127247" cy="20739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047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CCE0C4-B025-EFA1-699D-EE2E0CC3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CC16C2-510F-A038-D065-3F44E0B0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3346982"/>
            <a:ext cx="2304256" cy="224225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26F57BB-819A-1177-79F0-DA5ECA6AD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5605039" cy="505137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C5359B4-BF12-931D-E939-83DFB80544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823"/>
          <a:stretch/>
        </p:blipFill>
        <p:spPr>
          <a:xfrm>
            <a:off x="6516216" y="1114734"/>
            <a:ext cx="2016224" cy="2055155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69778E3-2633-FAA1-B534-E8EB110BE927}"/>
              </a:ext>
            </a:extLst>
          </p:cNvPr>
          <p:cNvCxnSpPr/>
          <p:nvPr/>
        </p:nvCxnSpPr>
        <p:spPr bwMode="auto">
          <a:xfrm flipH="1">
            <a:off x="5004048" y="1556792"/>
            <a:ext cx="216024" cy="2160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989168A-98DF-016D-8050-CFCE1BB7A1D6}"/>
              </a:ext>
            </a:extLst>
          </p:cNvPr>
          <p:cNvSpPr txBox="1"/>
          <p:nvPr/>
        </p:nvSpPr>
        <p:spPr>
          <a:xfrm>
            <a:off x="4733882" y="1278232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>
                <a:solidFill>
                  <a:schemeClr val="bg1"/>
                </a:solidFill>
              </a:rPr>
              <a:t>Φ12.5 mm</a:t>
            </a:r>
            <a:endParaRPr kumimoji="1" lang="ja-JP" altLang="en-US" sz="1800" dirty="0">
              <a:solidFill>
                <a:schemeClr val="bg1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2689F37-D3CC-DD75-F85C-867364032963}"/>
              </a:ext>
            </a:extLst>
          </p:cNvPr>
          <p:cNvCxnSpPr/>
          <p:nvPr/>
        </p:nvCxnSpPr>
        <p:spPr bwMode="auto">
          <a:xfrm>
            <a:off x="7485279" y="1546782"/>
            <a:ext cx="16485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252C644-2969-15C8-1391-DA26B881F18F}"/>
              </a:ext>
            </a:extLst>
          </p:cNvPr>
          <p:cNvSpPr txBox="1"/>
          <p:nvPr/>
        </p:nvSpPr>
        <p:spPr>
          <a:xfrm>
            <a:off x="7236296" y="1201056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chemeClr val="bg1"/>
                </a:solidFill>
              </a:rPr>
              <a:t>25</a:t>
            </a:r>
            <a:r>
              <a:rPr kumimoji="1" lang="en-US" altLang="ja-JP" sz="1600" dirty="0">
                <a:solidFill>
                  <a:schemeClr val="bg1"/>
                </a:solidFill>
              </a:rPr>
              <a:t> µm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F448E2A-0D01-299E-A7BF-4B9D78E0407C}"/>
              </a:ext>
            </a:extLst>
          </p:cNvPr>
          <p:cNvSpPr txBox="1"/>
          <p:nvPr/>
        </p:nvSpPr>
        <p:spPr>
          <a:xfrm>
            <a:off x="7155079" y="2613002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100 µm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D3BE8E3-D2F8-9CC8-F6DA-C45675188D04}"/>
              </a:ext>
            </a:extLst>
          </p:cNvPr>
          <p:cNvCxnSpPr/>
          <p:nvPr/>
        </p:nvCxnSpPr>
        <p:spPr bwMode="auto">
          <a:xfrm>
            <a:off x="7155079" y="2619616"/>
            <a:ext cx="833232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1EA73CE-3786-DC97-8DC3-6016D69420DE}"/>
              </a:ext>
            </a:extLst>
          </p:cNvPr>
          <p:cNvSpPr txBox="1"/>
          <p:nvPr/>
        </p:nvSpPr>
        <p:spPr>
          <a:xfrm>
            <a:off x="7122483" y="3283592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chemeClr val="bg1"/>
                </a:solidFill>
              </a:rPr>
              <a:t>5</a:t>
            </a:r>
            <a:r>
              <a:rPr kumimoji="1" lang="en-US" altLang="ja-JP" sz="1600" dirty="0">
                <a:solidFill>
                  <a:schemeClr val="bg1"/>
                </a:solidFill>
              </a:rPr>
              <a:t>00 µm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29E445C-E751-54BE-EA5A-B76B777BB03D}"/>
              </a:ext>
            </a:extLst>
          </p:cNvPr>
          <p:cNvSpPr txBox="1"/>
          <p:nvPr/>
        </p:nvSpPr>
        <p:spPr>
          <a:xfrm>
            <a:off x="6281122" y="4267139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chemeClr val="bg1"/>
                </a:solidFill>
              </a:rPr>
              <a:t>5</a:t>
            </a:r>
            <a:r>
              <a:rPr kumimoji="1" lang="en-US" altLang="ja-JP" sz="1600" dirty="0">
                <a:solidFill>
                  <a:schemeClr val="bg1"/>
                </a:solidFill>
              </a:rPr>
              <a:t>00 µm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412A902-661D-891C-7E65-C7CFFA7580B8}"/>
              </a:ext>
            </a:extLst>
          </p:cNvPr>
          <p:cNvSpPr txBox="1"/>
          <p:nvPr/>
        </p:nvSpPr>
        <p:spPr>
          <a:xfrm>
            <a:off x="7584182" y="3928585"/>
            <a:ext cx="923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Φ10 µm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B3048CC-E3C2-C861-C96C-75668FBE8D03}"/>
              </a:ext>
            </a:extLst>
          </p:cNvPr>
          <p:cNvCxnSpPr/>
          <p:nvPr/>
        </p:nvCxnSpPr>
        <p:spPr bwMode="auto">
          <a:xfrm flipH="1">
            <a:off x="7548655" y="4209103"/>
            <a:ext cx="216024" cy="2160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B7D278D-D2A8-E4B4-C894-1055B5D0B30E}"/>
              </a:ext>
            </a:extLst>
          </p:cNvPr>
          <p:cNvCxnSpPr/>
          <p:nvPr/>
        </p:nvCxnSpPr>
        <p:spPr bwMode="auto">
          <a:xfrm>
            <a:off x="3699573" y="5320804"/>
            <a:ext cx="38870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87EF806-96AB-C195-0FDE-C1E30A5C2A3B}"/>
              </a:ext>
            </a:extLst>
          </p:cNvPr>
          <p:cNvSpPr txBox="1"/>
          <p:nvPr/>
        </p:nvSpPr>
        <p:spPr>
          <a:xfrm>
            <a:off x="3635896" y="530120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>
                <a:solidFill>
                  <a:schemeClr val="bg1"/>
                </a:solidFill>
              </a:rPr>
              <a:t>1 mm</a:t>
            </a:r>
            <a:endParaRPr kumimoji="1" lang="ja-JP" altLang="en-US" sz="1800" dirty="0">
              <a:solidFill>
                <a:schemeClr val="bg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AF69326-EFD0-0683-A70C-E904249540C0}"/>
              </a:ext>
            </a:extLst>
          </p:cNvPr>
          <p:cNvSpPr/>
          <p:nvPr/>
        </p:nvSpPr>
        <p:spPr bwMode="auto">
          <a:xfrm>
            <a:off x="5155549" y="3430391"/>
            <a:ext cx="216024" cy="277485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FB56B42-F91C-19FF-C8F6-4E565519AE27}"/>
              </a:ext>
            </a:extLst>
          </p:cNvPr>
          <p:cNvSpPr txBox="1"/>
          <p:nvPr/>
        </p:nvSpPr>
        <p:spPr>
          <a:xfrm>
            <a:off x="5305745" y="321010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A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3B66A0C-6D94-FF7B-B82B-573C5D0FCBD2}"/>
              </a:ext>
            </a:extLst>
          </p:cNvPr>
          <p:cNvSpPr txBox="1"/>
          <p:nvPr/>
        </p:nvSpPr>
        <p:spPr>
          <a:xfrm>
            <a:off x="6516216" y="114136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</a:rPr>
              <a:t>A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5B63326-64B6-C6AC-8583-1180377811E9}"/>
              </a:ext>
            </a:extLst>
          </p:cNvPr>
          <p:cNvSpPr/>
          <p:nvPr/>
        </p:nvSpPr>
        <p:spPr bwMode="auto">
          <a:xfrm>
            <a:off x="4290034" y="4558717"/>
            <a:ext cx="347909" cy="369333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9ED4AE8-6047-99EE-B5EC-C9578552DE8F}"/>
              </a:ext>
            </a:extLst>
          </p:cNvPr>
          <p:cNvSpPr txBox="1"/>
          <p:nvPr/>
        </p:nvSpPr>
        <p:spPr>
          <a:xfrm>
            <a:off x="4585392" y="482940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B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77A6BFB-2BA8-79AE-B0D9-2B8AD384D015}"/>
              </a:ext>
            </a:extLst>
          </p:cNvPr>
          <p:cNvSpPr txBox="1"/>
          <p:nvPr/>
        </p:nvSpPr>
        <p:spPr>
          <a:xfrm>
            <a:off x="6525187" y="345286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</a:rPr>
              <a:t>B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278D363-AC4B-7E87-BA63-DE7032B009B6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EC3C58B-4FC3-4DB4-8536-5EAE4FC73274}"/>
              </a:ext>
            </a:extLst>
          </p:cNvPr>
          <p:cNvCxnSpPr/>
          <p:nvPr/>
        </p:nvCxnSpPr>
        <p:spPr bwMode="auto">
          <a:xfrm>
            <a:off x="866690" y="3582562"/>
            <a:ext cx="38870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AFCF0C4-E14D-8A2D-F84A-3ECE1E7C112A}"/>
              </a:ext>
            </a:extLst>
          </p:cNvPr>
          <p:cNvSpPr txBox="1"/>
          <p:nvPr/>
        </p:nvSpPr>
        <p:spPr>
          <a:xfrm>
            <a:off x="683568" y="358256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>
                <a:solidFill>
                  <a:schemeClr val="bg1"/>
                </a:solidFill>
              </a:rPr>
              <a:t>1 mm</a:t>
            </a:r>
            <a:endParaRPr kumimoji="1" lang="ja-JP" altLang="en-US" sz="1800" dirty="0">
              <a:solidFill>
                <a:schemeClr val="bg1"/>
              </a:solidFill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040D440-E4FF-3009-6BAB-7C56A63CB77A}"/>
              </a:ext>
            </a:extLst>
          </p:cNvPr>
          <p:cNvCxnSpPr/>
          <p:nvPr/>
        </p:nvCxnSpPr>
        <p:spPr bwMode="auto">
          <a:xfrm>
            <a:off x="827584" y="3169889"/>
            <a:ext cx="194354" cy="38761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F9E1D4E-1FF6-2410-A035-CC85331F613C}"/>
              </a:ext>
            </a:extLst>
          </p:cNvPr>
          <p:cNvSpPr txBox="1"/>
          <p:nvPr/>
        </p:nvSpPr>
        <p:spPr>
          <a:xfrm>
            <a:off x="337295" y="2834447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bg1"/>
                </a:solidFill>
              </a:rPr>
              <a:t>エッジリンス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A6116CFF-5E75-87A5-85EA-42D288535F0E}"/>
              </a:ext>
            </a:extLst>
          </p:cNvPr>
          <p:cNvCxnSpPr/>
          <p:nvPr/>
        </p:nvCxnSpPr>
        <p:spPr bwMode="auto">
          <a:xfrm>
            <a:off x="2008529" y="5742653"/>
            <a:ext cx="497867" cy="5367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9128072-3E69-4494-EA2D-DDDB2ADFB8D9}"/>
              </a:ext>
            </a:extLst>
          </p:cNvPr>
          <p:cNvSpPr txBox="1"/>
          <p:nvPr/>
        </p:nvSpPr>
        <p:spPr>
          <a:xfrm>
            <a:off x="1044538" y="5557987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bg1"/>
                </a:solidFill>
              </a:rPr>
              <a:t>オリフラ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481F57-AD5E-A477-0D67-476F33DC464A}"/>
              </a:ext>
            </a:extLst>
          </p:cNvPr>
          <p:cNvSpPr txBox="1"/>
          <p:nvPr/>
        </p:nvSpPr>
        <p:spPr>
          <a:xfrm>
            <a:off x="3274904" y="3061545"/>
            <a:ext cx="156966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</a:rPr>
              <a:t>修正中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9718E4-B5B4-AA06-061D-8D7EACC34C90}"/>
              </a:ext>
            </a:extLst>
          </p:cNvPr>
          <p:cNvSpPr txBox="1"/>
          <p:nvPr/>
        </p:nvSpPr>
        <p:spPr>
          <a:xfrm>
            <a:off x="5042515" y="6170843"/>
            <a:ext cx="383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>
                <a:solidFill>
                  <a:srgbClr val="FF0000"/>
                </a:solidFill>
              </a:rPr>
              <a:t>※</a:t>
            </a:r>
            <a:r>
              <a:rPr lang="en-US" altLang="ja-JP" sz="1800" dirty="0">
                <a:solidFill>
                  <a:srgbClr val="FF0000"/>
                </a:solidFill>
              </a:rPr>
              <a:t>TSV</a:t>
            </a:r>
            <a:r>
              <a:rPr lang="ja-JP" altLang="en-US" sz="1800" dirty="0">
                <a:solidFill>
                  <a:srgbClr val="FF0000"/>
                </a:solidFill>
              </a:rPr>
              <a:t>中心断面を作りやすくするため</a:t>
            </a:r>
            <a:endParaRPr kumimoji="1" lang="ja-JP" altLang="en-US" sz="18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BFB141-2FEF-20B6-1DBE-532E50088731}"/>
              </a:ext>
            </a:extLst>
          </p:cNvPr>
          <p:cNvSpPr txBox="1"/>
          <p:nvPr/>
        </p:nvSpPr>
        <p:spPr>
          <a:xfrm>
            <a:off x="13640" y="260648"/>
            <a:ext cx="578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+mn-ea"/>
                <a:ea typeface="+mn-ea"/>
              </a:rPr>
              <a:t>IR-OBIRCH</a:t>
            </a:r>
            <a:r>
              <a:rPr lang="ja-JP" altLang="en-US" dirty="0">
                <a:latin typeface="+mn-ea"/>
                <a:ea typeface="+mn-ea"/>
              </a:rPr>
              <a:t>用</a:t>
            </a:r>
            <a:r>
              <a:rPr lang="en-US" altLang="ja-JP" dirty="0">
                <a:latin typeface="+mn-ea"/>
                <a:ea typeface="+mn-ea"/>
              </a:rPr>
              <a:t>TEG</a:t>
            </a:r>
            <a:endParaRPr lang="ja-JP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7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F6435-9637-B379-C6F2-4F39F3914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1CDC94C-B8F4-253E-E2FE-F58615FDC8E7}"/>
              </a:ext>
            </a:extLst>
          </p:cNvPr>
          <p:cNvSpPr txBox="1"/>
          <p:nvPr/>
        </p:nvSpPr>
        <p:spPr>
          <a:xfrm>
            <a:off x="0" y="260648"/>
            <a:ext cx="8028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X</a:t>
            </a:r>
            <a:r>
              <a:rPr lang="ja-JP" altLang="en-US" dirty="0"/>
              <a:t>線用</a:t>
            </a:r>
            <a:r>
              <a:rPr lang="en-US" altLang="ja-JP" dirty="0"/>
              <a:t>TEG</a:t>
            </a:r>
            <a:endParaRPr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993A82-01D1-E77E-F76C-C5677FA572B4}"/>
              </a:ext>
            </a:extLst>
          </p:cNvPr>
          <p:cNvSpPr/>
          <p:nvPr/>
        </p:nvSpPr>
        <p:spPr bwMode="auto">
          <a:xfrm>
            <a:off x="272333" y="2340303"/>
            <a:ext cx="3312368" cy="114709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505176-87AE-E662-2417-CA4DCAD29710}"/>
              </a:ext>
            </a:extLst>
          </p:cNvPr>
          <p:cNvSpPr/>
          <p:nvPr/>
        </p:nvSpPr>
        <p:spPr bwMode="auto">
          <a:xfrm>
            <a:off x="272333" y="2153971"/>
            <a:ext cx="3312368" cy="187559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7AC89F5-8D8F-B108-5EA3-451382E23056}"/>
              </a:ext>
            </a:extLst>
          </p:cNvPr>
          <p:cNvCxnSpPr/>
          <p:nvPr/>
        </p:nvCxnSpPr>
        <p:spPr bwMode="auto">
          <a:xfrm>
            <a:off x="3635896" y="2215591"/>
            <a:ext cx="0" cy="16537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D18900-C4A6-C590-763B-9DF91056FA8D}"/>
              </a:ext>
            </a:extLst>
          </p:cNvPr>
          <p:cNvSpPr txBox="1"/>
          <p:nvPr/>
        </p:nvSpPr>
        <p:spPr>
          <a:xfrm>
            <a:off x="3601226" y="2132856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200~235 nm</a:t>
            </a:r>
            <a:endParaRPr kumimoji="1" lang="ja-JP" altLang="en-US" sz="16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81326E8-159B-8D36-8E01-06429BDFB257}"/>
              </a:ext>
            </a:extLst>
          </p:cNvPr>
          <p:cNvCxnSpPr/>
          <p:nvPr/>
        </p:nvCxnSpPr>
        <p:spPr bwMode="auto">
          <a:xfrm>
            <a:off x="3635896" y="2490834"/>
            <a:ext cx="0" cy="101140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DAE4409-AF32-F673-A8D2-C126B4FBAD72}"/>
              </a:ext>
            </a:extLst>
          </p:cNvPr>
          <p:cNvSpPr txBox="1"/>
          <p:nvPr/>
        </p:nvSpPr>
        <p:spPr>
          <a:xfrm>
            <a:off x="3601226" y="2795099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250</a:t>
            </a:r>
            <a:r>
              <a:rPr lang="ja-JP" altLang="en-US" sz="1600" dirty="0"/>
              <a:t> </a:t>
            </a:r>
            <a:r>
              <a:rPr lang="en-US" altLang="ja-JP" sz="1600" dirty="0"/>
              <a:t>um</a:t>
            </a:r>
            <a:endParaRPr kumimoji="1" lang="ja-JP" altLang="en-US" sz="16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A2569F6-54A9-948B-1F62-57A8404C4A33}"/>
              </a:ext>
            </a:extLst>
          </p:cNvPr>
          <p:cNvSpPr txBox="1"/>
          <p:nvPr/>
        </p:nvSpPr>
        <p:spPr>
          <a:xfrm>
            <a:off x="5052926" y="1046131"/>
            <a:ext cx="37417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・ウェハ全面にパターン無しで作成</a:t>
            </a:r>
            <a:endParaRPr kumimoji="1" lang="en-US" altLang="ja-JP" sz="1800" dirty="0"/>
          </a:p>
          <a:p>
            <a:r>
              <a:rPr lang="ja-JP" altLang="en-US" sz="1800" dirty="0"/>
              <a:t>・表面を研削して荒らす</a:t>
            </a:r>
            <a:endParaRPr lang="en-US" altLang="ja-JP" sz="1800" dirty="0"/>
          </a:p>
          <a:p>
            <a:r>
              <a:rPr kumimoji="1" lang="ja-JP" altLang="en-US" sz="1800" dirty="0"/>
              <a:t>・</a:t>
            </a:r>
            <a:r>
              <a:rPr kumimoji="1" lang="en-US" altLang="ja-JP" sz="1800" dirty="0"/>
              <a:t>Control</a:t>
            </a:r>
            <a:r>
              <a:rPr lang="ja-JP" altLang="en-US" sz="1800" dirty="0"/>
              <a:t>用に熱酸化膜サンプル作製</a:t>
            </a:r>
            <a:endParaRPr lang="en-US" altLang="ja-JP" sz="1800" dirty="0"/>
          </a:p>
          <a:p>
            <a:r>
              <a:rPr kumimoji="1" lang="ja-JP" altLang="en-US" sz="1800" dirty="0"/>
              <a:t>・スキャロップありで約</a:t>
            </a:r>
            <a:r>
              <a:rPr kumimoji="1" lang="en-US" altLang="ja-JP" sz="1800" dirty="0"/>
              <a:t>200nm</a:t>
            </a:r>
            <a:r>
              <a:rPr lang="ja-JP" altLang="en-US" sz="1800" dirty="0"/>
              <a:t>周期で</a:t>
            </a:r>
            <a:endParaRPr lang="en-US" altLang="ja-JP" sz="1800" dirty="0"/>
          </a:p>
          <a:p>
            <a:r>
              <a:rPr kumimoji="1" lang="ja-JP" altLang="en-US" sz="1800" dirty="0"/>
              <a:t>深さ</a:t>
            </a:r>
            <a:r>
              <a:rPr kumimoji="1" lang="en-US" altLang="ja-JP" sz="1800" dirty="0"/>
              <a:t>100nm</a:t>
            </a:r>
          </a:p>
          <a:p>
            <a:r>
              <a:rPr lang="ja-JP" altLang="en-US" sz="1800" dirty="0"/>
              <a:t>・＃</a:t>
            </a:r>
            <a:r>
              <a:rPr lang="en-US" altLang="ja-JP" sz="1800" dirty="0"/>
              <a:t>800</a:t>
            </a:r>
            <a:r>
              <a:rPr lang="ja-JP" altLang="en-US" sz="1800" dirty="0"/>
              <a:t>で研削</a:t>
            </a:r>
            <a:endParaRPr kumimoji="1" lang="ja-JP" altLang="en-US" sz="1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4651B8-7FE3-1759-EF81-32A5A209C8BC}"/>
              </a:ext>
            </a:extLst>
          </p:cNvPr>
          <p:cNvSpPr txBox="1"/>
          <p:nvPr/>
        </p:nvSpPr>
        <p:spPr>
          <a:xfrm>
            <a:off x="3467288" y="4534272"/>
            <a:ext cx="1851789" cy="1034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TEOS-</a:t>
            </a:r>
            <a:r>
              <a:rPr kumimoji="1" lang="en-US" altLang="ja-JP" sz="1800" dirty="0" err="1"/>
              <a:t>SiO</a:t>
            </a:r>
            <a:r>
              <a:rPr kumimoji="1" lang="ja-JP" altLang="en-US" sz="1800" dirty="0"/>
              <a:t>₂条件</a:t>
            </a:r>
            <a:endParaRPr kumimoji="1" lang="en-US" altLang="ja-JP" sz="1800" dirty="0"/>
          </a:p>
          <a:p>
            <a:r>
              <a:rPr lang="ja-JP" altLang="en-US" sz="1800" dirty="0"/>
              <a:t>・</a:t>
            </a:r>
            <a:r>
              <a:rPr lang="en-US" altLang="ja-JP" sz="1800" dirty="0"/>
              <a:t>300</a:t>
            </a:r>
            <a:r>
              <a:rPr lang="ja-JP" altLang="en-US" sz="1800" dirty="0"/>
              <a:t>℃</a:t>
            </a:r>
            <a:endParaRPr lang="en-US" altLang="ja-JP" sz="1800" dirty="0"/>
          </a:p>
          <a:p>
            <a:r>
              <a:rPr kumimoji="1" lang="ja-JP" altLang="en-US" sz="1800" dirty="0"/>
              <a:t>・</a:t>
            </a:r>
            <a:r>
              <a:rPr kumimoji="1" lang="en-US" altLang="ja-JP" sz="1800" dirty="0"/>
              <a:t>200 nm</a:t>
            </a:r>
            <a:r>
              <a:rPr kumimoji="1" lang="ja-JP" altLang="en-US" sz="1800" dirty="0"/>
              <a:t>＜目標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2389348-022E-2121-7753-CC284331BC36}"/>
              </a:ext>
            </a:extLst>
          </p:cNvPr>
          <p:cNvSpPr txBox="1"/>
          <p:nvPr/>
        </p:nvSpPr>
        <p:spPr>
          <a:xfrm>
            <a:off x="151768" y="1591855"/>
            <a:ext cx="276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TEOS-</a:t>
            </a:r>
            <a:r>
              <a:rPr kumimoji="1" lang="en-US" altLang="ja-JP" sz="1800" dirty="0" err="1"/>
              <a:t>SiO</a:t>
            </a:r>
            <a:r>
              <a:rPr kumimoji="1" lang="ja-JP" altLang="en-US" sz="1800" dirty="0"/>
              <a:t>₂ </a:t>
            </a:r>
            <a:r>
              <a:rPr kumimoji="1" lang="en-US" altLang="ja-JP" sz="1800" dirty="0"/>
              <a:t>or </a:t>
            </a:r>
            <a:r>
              <a:rPr kumimoji="1" lang="ja-JP" altLang="en-US" sz="1800" dirty="0"/>
              <a:t>熱酸化膜</a:t>
            </a:r>
            <a:endParaRPr lang="ja-JP" altLang="en-US" sz="18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52623A-7A9A-E4C7-91B8-F9F1167B82D4}"/>
              </a:ext>
            </a:extLst>
          </p:cNvPr>
          <p:cNvSpPr txBox="1"/>
          <p:nvPr/>
        </p:nvSpPr>
        <p:spPr>
          <a:xfrm>
            <a:off x="231293" y="3111557"/>
            <a:ext cx="1510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Si</a:t>
            </a:r>
            <a:endParaRPr lang="ja-JP" altLang="en-US" sz="1800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99A4920-05DD-1C2A-93BA-E2696100C4F2}"/>
              </a:ext>
            </a:extLst>
          </p:cNvPr>
          <p:cNvSpPr/>
          <p:nvPr/>
        </p:nvSpPr>
        <p:spPr bwMode="auto">
          <a:xfrm>
            <a:off x="594957" y="3952215"/>
            <a:ext cx="2608891" cy="26088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B1AAA07-1221-C475-2701-33820F07D054}"/>
              </a:ext>
            </a:extLst>
          </p:cNvPr>
          <p:cNvCxnSpPr/>
          <p:nvPr/>
        </p:nvCxnSpPr>
        <p:spPr bwMode="auto">
          <a:xfrm>
            <a:off x="1333591" y="6413033"/>
            <a:ext cx="1190664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楕円 52">
            <a:extLst>
              <a:ext uri="{FF2B5EF4-FFF2-40B4-BE49-F238E27FC236}">
                <a16:creationId xmlns:a16="http://schemas.microsoft.com/office/drawing/2014/main" id="{1ACDE3E0-A8B7-65E0-3619-64BFAC4B3F3F}"/>
              </a:ext>
            </a:extLst>
          </p:cNvPr>
          <p:cNvSpPr/>
          <p:nvPr/>
        </p:nvSpPr>
        <p:spPr bwMode="auto">
          <a:xfrm>
            <a:off x="760630" y="4108777"/>
            <a:ext cx="2268000" cy="2268000"/>
          </a:xfrm>
          <a:prstGeom prst="ellipse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431494D-9892-5F82-143F-3D4D526C4C59}"/>
              </a:ext>
            </a:extLst>
          </p:cNvPr>
          <p:cNvSpPr txBox="1"/>
          <p:nvPr/>
        </p:nvSpPr>
        <p:spPr>
          <a:xfrm>
            <a:off x="1218751" y="3551071"/>
            <a:ext cx="118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Top view</a:t>
            </a:r>
            <a:endParaRPr kumimoji="1" lang="ja-JP" altLang="en-US" sz="2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1ACB4DD-173B-41BF-893E-695DCC512D43}"/>
              </a:ext>
            </a:extLst>
          </p:cNvPr>
          <p:cNvSpPr txBox="1"/>
          <p:nvPr/>
        </p:nvSpPr>
        <p:spPr>
          <a:xfrm>
            <a:off x="723312" y="1044816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Cross-sectional</a:t>
            </a:r>
            <a:r>
              <a:rPr lang="ja-JP" altLang="en-US" sz="2000" dirty="0"/>
              <a:t> </a:t>
            </a:r>
            <a:r>
              <a:rPr kumimoji="1" lang="en-US" altLang="ja-JP" sz="2000" dirty="0"/>
              <a:t>view</a:t>
            </a:r>
            <a:endParaRPr kumimoji="1" lang="ja-JP" altLang="en-US" sz="20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0080204-C2BB-7B7A-192B-53024C7D1D4B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BF789DD4-E3E0-E92B-3396-D4ADFFE566A2}"/>
              </a:ext>
            </a:extLst>
          </p:cNvPr>
          <p:cNvCxnSpPr/>
          <p:nvPr/>
        </p:nvCxnSpPr>
        <p:spPr bwMode="auto">
          <a:xfrm>
            <a:off x="723312" y="1991965"/>
            <a:ext cx="176280" cy="22362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D996C3CD-356A-A2D0-C336-B8B15B6EEF99}"/>
              </a:ext>
            </a:extLst>
          </p:cNvPr>
          <p:cNvGrpSpPr/>
          <p:nvPr/>
        </p:nvGrpSpPr>
        <p:grpSpPr>
          <a:xfrm>
            <a:off x="7595782" y="4560945"/>
            <a:ext cx="995249" cy="1820099"/>
            <a:chOff x="6569262" y="2996535"/>
            <a:chExt cx="995249" cy="1820099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345F4826-E2F1-D732-8CAC-2AC5477979BE}"/>
                </a:ext>
              </a:extLst>
            </p:cNvPr>
            <p:cNvSpPr/>
            <p:nvPr/>
          </p:nvSpPr>
          <p:spPr bwMode="auto">
            <a:xfrm>
              <a:off x="6893488" y="2996535"/>
              <a:ext cx="324225" cy="1820099"/>
            </a:xfrm>
            <a:prstGeom prst="rect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819C107-A7DD-29D9-9D5A-2CDBD0280D84}"/>
                </a:ext>
              </a:extLst>
            </p:cNvPr>
            <p:cNvSpPr/>
            <p:nvPr/>
          </p:nvSpPr>
          <p:spPr bwMode="auto">
            <a:xfrm>
              <a:off x="6569262" y="2996535"/>
              <a:ext cx="324225" cy="182009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15DD4B0-B976-E392-D8C7-55E6AD711322}"/>
                </a:ext>
              </a:extLst>
            </p:cNvPr>
            <p:cNvSpPr/>
            <p:nvPr/>
          </p:nvSpPr>
          <p:spPr bwMode="auto">
            <a:xfrm>
              <a:off x="7174410" y="2996535"/>
              <a:ext cx="137503" cy="18200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9A0573FB-77BC-147B-F807-B7906C43C6C1}"/>
                </a:ext>
              </a:extLst>
            </p:cNvPr>
            <p:cNvSpPr/>
            <p:nvPr/>
          </p:nvSpPr>
          <p:spPr bwMode="auto">
            <a:xfrm>
              <a:off x="7296556" y="2996535"/>
              <a:ext cx="267955" cy="1820099"/>
            </a:xfrm>
            <a:prstGeom prst="rect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7DE8A890-AC2D-C02D-E52F-01D446DCD99F}"/>
                </a:ext>
              </a:extLst>
            </p:cNvPr>
            <p:cNvSpPr/>
            <p:nvPr/>
          </p:nvSpPr>
          <p:spPr bwMode="auto">
            <a:xfrm>
              <a:off x="7037267" y="3005258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BAE86C96-1ADE-F8B0-05AA-E99C2B61A168}"/>
                </a:ext>
              </a:extLst>
            </p:cNvPr>
            <p:cNvSpPr/>
            <p:nvPr/>
          </p:nvSpPr>
          <p:spPr bwMode="auto">
            <a:xfrm>
              <a:off x="7017516" y="3319667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B87E323C-8CEA-5A4A-919D-E3BDD9A76E2B}"/>
                </a:ext>
              </a:extLst>
            </p:cNvPr>
            <p:cNvSpPr/>
            <p:nvPr/>
          </p:nvSpPr>
          <p:spPr bwMode="auto">
            <a:xfrm>
              <a:off x="7030443" y="3624716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097A90A8-B862-F7FC-A05A-10A7C1651E09}"/>
                </a:ext>
              </a:extLst>
            </p:cNvPr>
            <p:cNvSpPr/>
            <p:nvPr/>
          </p:nvSpPr>
          <p:spPr bwMode="auto">
            <a:xfrm>
              <a:off x="7037267" y="3891949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9742B091-68F1-1A82-5D63-74E7F9D1EC84}"/>
                </a:ext>
              </a:extLst>
            </p:cNvPr>
            <p:cNvSpPr/>
            <p:nvPr/>
          </p:nvSpPr>
          <p:spPr bwMode="auto">
            <a:xfrm>
              <a:off x="7020207" y="4163531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A07B8770-843E-14A6-6A89-D24F004D279C}"/>
                </a:ext>
              </a:extLst>
            </p:cNvPr>
            <p:cNvSpPr/>
            <p:nvPr/>
          </p:nvSpPr>
          <p:spPr bwMode="auto">
            <a:xfrm>
              <a:off x="7016795" y="4458667"/>
              <a:ext cx="216403" cy="35254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BE831085-042F-826D-8956-2B5D81B871D3}"/>
                </a:ext>
              </a:extLst>
            </p:cNvPr>
            <p:cNvSpPr/>
            <p:nvPr/>
          </p:nvSpPr>
          <p:spPr bwMode="auto">
            <a:xfrm>
              <a:off x="7242160" y="3006907"/>
              <a:ext cx="216403" cy="387795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2B5CF4F1-0216-8973-B7F1-80CCB69C46C8}"/>
                </a:ext>
              </a:extLst>
            </p:cNvPr>
            <p:cNvSpPr/>
            <p:nvPr/>
          </p:nvSpPr>
          <p:spPr bwMode="auto">
            <a:xfrm>
              <a:off x="7238546" y="3322939"/>
              <a:ext cx="216403" cy="352541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6B7CB6E0-F14E-41AE-2B53-3743AF4B90EC}"/>
                </a:ext>
              </a:extLst>
            </p:cNvPr>
            <p:cNvSpPr/>
            <p:nvPr/>
          </p:nvSpPr>
          <p:spPr bwMode="auto">
            <a:xfrm>
              <a:off x="7251473" y="3627988"/>
              <a:ext cx="216403" cy="352541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EFC891A8-2B58-0841-7994-BA5FA53BBD45}"/>
                </a:ext>
              </a:extLst>
            </p:cNvPr>
            <p:cNvSpPr/>
            <p:nvPr/>
          </p:nvSpPr>
          <p:spPr bwMode="auto">
            <a:xfrm>
              <a:off x="7258297" y="3895221"/>
              <a:ext cx="216403" cy="352541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CF478462-927D-D1AC-14CF-CD75C2ABA902}"/>
                </a:ext>
              </a:extLst>
            </p:cNvPr>
            <p:cNvSpPr/>
            <p:nvPr/>
          </p:nvSpPr>
          <p:spPr bwMode="auto">
            <a:xfrm>
              <a:off x="7241237" y="4177039"/>
              <a:ext cx="216403" cy="352541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D338752A-0A4C-6DF6-5026-702C3D802B01}"/>
                </a:ext>
              </a:extLst>
            </p:cNvPr>
            <p:cNvSpPr/>
            <p:nvPr/>
          </p:nvSpPr>
          <p:spPr bwMode="auto">
            <a:xfrm>
              <a:off x="7237825" y="4464093"/>
              <a:ext cx="216403" cy="352541"/>
            </a:xfrm>
            <a:prstGeom prst="ellipse">
              <a:avLst/>
            </a:prstGeom>
            <a:solidFill>
              <a:srgbClr val="CC6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6B028F08-7BE3-41C8-B9B8-1925CC9CA1C9}"/>
                </a:ext>
              </a:extLst>
            </p:cNvPr>
            <p:cNvSpPr/>
            <p:nvPr/>
          </p:nvSpPr>
          <p:spPr bwMode="auto">
            <a:xfrm>
              <a:off x="6732240" y="3000448"/>
              <a:ext cx="290011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D28338B0-6A35-3545-784D-8421DE2D46FB}"/>
                </a:ext>
              </a:extLst>
            </p:cNvPr>
            <p:cNvSpPr/>
            <p:nvPr/>
          </p:nvSpPr>
          <p:spPr bwMode="auto">
            <a:xfrm>
              <a:off x="6726809" y="3314857"/>
              <a:ext cx="275692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66C1324A-C5B1-9BAC-1863-EDCAA9EB2414}"/>
                </a:ext>
              </a:extLst>
            </p:cNvPr>
            <p:cNvSpPr/>
            <p:nvPr/>
          </p:nvSpPr>
          <p:spPr bwMode="auto">
            <a:xfrm>
              <a:off x="6736794" y="3619906"/>
              <a:ext cx="278633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F54BB2D5-2A03-F504-E6F0-B34CAAAB939E}"/>
                </a:ext>
              </a:extLst>
            </p:cNvPr>
            <p:cNvSpPr/>
            <p:nvPr/>
          </p:nvSpPr>
          <p:spPr bwMode="auto">
            <a:xfrm>
              <a:off x="6732240" y="3887139"/>
              <a:ext cx="290011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8" name="楕円 47">
              <a:extLst>
                <a:ext uri="{FF2B5EF4-FFF2-40B4-BE49-F238E27FC236}">
                  <a16:creationId xmlns:a16="http://schemas.microsoft.com/office/drawing/2014/main" id="{1B830B05-E185-22BE-65AD-D53295E1FDE4}"/>
                </a:ext>
              </a:extLst>
            </p:cNvPr>
            <p:cNvSpPr/>
            <p:nvPr/>
          </p:nvSpPr>
          <p:spPr bwMode="auto">
            <a:xfrm>
              <a:off x="6715180" y="4168957"/>
              <a:ext cx="290011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sp>
          <p:nvSpPr>
            <p:cNvPr id="49" name="楕円 48">
              <a:extLst>
                <a:ext uri="{FF2B5EF4-FFF2-40B4-BE49-F238E27FC236}">
                  <a16:creationId xmlns:a16="http://schemas.microsoft.com/office/drawing/2014/main" id="{E6933A15-2889-C110-1F5E-8051F536A93D}"/>
                </a:ext>
              </a:extLst>
            </p:cNvPr>
            <p:cNvSpPr/>
            <p:nvPr/>
          </p:nvSpPr>
          <p:spPr bwMode="auto">
            <a:xfrm>
              <a:off x="6715180" y="4464093"/>
              <a:ext cx="286599" cy="352541"/>
            </a:xfrm>
            <a:prstGeom prst="ellipse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5600" tIns="39600" rIns="75600" bIns="396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</p:grp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40CD7464-3B71-79A2-A6B7-716495228735}"/>
              </a:ext>
            </a:extLst>
          </p:cNvPr>
          <p:cNvCxnSpPr/>
          <p:nvPr/>
        </p:nvCxnSpPr>
        <p:spPr bwMode="auto">
          <a:xfrm flipH="1">
            <a:off x="7321027" y="4587740"/>
            <a:ext cx="22170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717D908-5293-09F1-275F-080FDF054A5B}"/>
              </a:ext>
            </a:extLst>
          </p:cNvPr>
          <p:cNvCxnSpPr/>
          <p:nvPr/>
        </p:nvCxnSpPr>
        <p:spPr bwMode="auto">
          <a:xfrm flipH="1">
            <a:off x="7323112" y="4851314"/>
            <a:ext cx="221709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2AB93D55-B4D2-D2FF-93A3-BA81A80560C6}"/>
              </a:ext>
            </a:extLst>
          </p:cNvPr>
          <p:cNvCxnSpPr/>
          <p:nvPr/>
        </p:nvCxnSpPr>
        <p:spPr bwMode="auto">
          <a:xfrm>
            <a:off x="7432484" y="4598102"/>
            <a:ext cx="0" cy="25129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6735DC3C-F562-E245-B96B-DECFE7333425}"/>
              </a:ext>
            </a:extLst>
          </p:cNvPr>
          <p:cNvSpPr txBox="1"/>
          <p:nvPr/>
        </p:nvSpPr>
        <p:spPr>
          <a:xfrm>
            <a:off x="6520016" y="4564858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200 nm</a:t>
            </a:r>
            <a:endParaRPr kumimoji="1" lang="ja-JP" altLang="en-US" sz="1600" dirty="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9FD880CF-32A3-FAD3-44BD-E1F9C20BE8EB}"/>
              </a:ext>
            </a:extLst>
          </p:cNvPr>
          <p:cNvSpPr/>
          <p:nvPr/>
        </p:nvSpPr>
        <p:spPr bwMode="auto">
          <a:xfrm>
            <a:off x="7542736" y="4464088"/>
            <a:ext cx="1057200" cy="106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7B840CDE-3C8A-2D63-4A56-7D5666FEDC05}"/>
              </a:ext>
            </a:extLst>
          </p:cNvPr>
          <p:cNvSpPr/>
          <p:nvPr/>
        </p:nvSpPr>
        <p:spPr bwMode="auto">
          <a:xfrm>
            <a:off x="7542736" y="6326874"/>
            <a:ext cx="1057200" cy="106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C6B777F-FD10-173B-6691-A3B08D57006F}"/>
              </a:ext>
            </a:extLst>
          </p:cNvPr>
          <p:cNvCxnSpPr/>
          <p:nvPr/>
        </p:nvCxnSpPr>
        <p:spPr bwMode="auto">
          <a:xfrm>
            <a:off x="7758760" y="4741129"/>
            <a:ext cx="118991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FFDBBAC-1EF3-B4F8-6B00-ED45E3219BA2}"/>
              </a:ext>
            </a:extLst>
          </p:cNvPr>
          <p:cNvCxnSpPr/>
          <p:nvPr/>
        </p:nvCxnSpPr>
        <p:spPr bwMode="auto">
          <a:xfrm>
            <a:off x="7763314" y="4682294"/>
            <a:ext cx="0" cy="11767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350691A9-C528-E095-18F9-F59D07814C7E}"/>
              </a:ext>
            </a:extLst>
          </p:cNvPr>
          <p:cNvCxnSpPr/>
          <p:nvPr/>
        </p:nvCxnSpPr>
        <p:spPr bwMode="auto">
          <a:xfrm>
            <a:off x="7877751" y="4682294"/>
            <a:ext cx="0" cy="11767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040D270-228C-6EAC-1ABC-9D9E9FB70091}"/>
              </a:ext>
            </a:extLst>
          </p:cNvPr>
          <p:cNvSpPr txBox="1"/>
          <p:nvPr/>
        </p:nvSpPr>
        <p:spPr>
          <a:xfrm>
            <a:off x="7649756" y="4274045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</a:t>
            </a:r>
            <a:r>
              <a:rPr kumimoji="1" lang="en-US" altLang="ja-JP" sz="1600" dirty="0"/>
              <a:t>00 nm</a:t>
            </a:r>
            <a:endParaRPr kumimoji="1" lang="ja-JP" altLang="en-US" sz="16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1B70825-033B-7D01-624E-7318F4B123E3}"/>
              </a:ext>
            </a:extLst>
          </p:cNvPr>
          <p:cNvSpPr txBox="1"/>
          <p:nvPr/>
        </p:nvSpPr>
        <p:spPr>
          <a:xfrm>
            <a:off x="6960673" y="3913491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800" dirty="0"/>
              <a:t>スキャロップ形状</a:t>
            </a:r>
            <a:endParaRPr kumimoji="1" lang="ja-JP" altLang="en-US" sz="1800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7077089-5DA9-8261-8325-E9E5B14DE7E8}"/>
              </a:ext>
            </a:extLst>
          </p:cNvPr>
          <p:cNvSpPr/>
          <p:nvPr/>
        </p:nvSpPr>
        <p:spPr bwMode="auto">
          <a:xfrm>
            <a:off x="6108235" y="3348465"/>
            <a:ext cx="2930361" cy="3116810"/>
          </a:xfrm>
          <a:prstGeom prst="rect">
            <a:avLst/>
          </a:prstGeom>
          <a:noFill/>
          <a:ln w="9525" cap="flat" cmpd="sng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EB93860-C29F-DAC1-F808-E72D5EAD5512}"/>
              </a:ext>
            </a:extLst>
          </p:cNvPr>
          <p:cNvSpPr txBox="1"/>
          <p:nvPr/>
        </p:nvSpPr>
        <p:spPr>
          <a:xfrm>
            <a:off x="6089479" y="3356102"/>
            <a:ext cx="183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※</a:t>
            </a:r>
            <a:r>
              <a:rPr kumimoji="1" lang="ja-JP" altLang="en-US" sz="2000" dirty="0"/>
              <a:t>参考資料</a:t>
            </a:r>
          </a:p>
        </p:txBody>
      </p:sp>
    </p:spTree>
    <p:extLst>
      <p:ext uri="{BB962C8B-B14F-4D97-AF65-F5344CB8AC3E}">
        <p14:creationId xmlns:p14="http://schemas.microsoft.com/office/powerpoint/2010/main" val="115540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D41871-A83E-7C3C-CC87-7D1F141AA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F4C496-4C5F-F06B-1343-AA207131743A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4A530B4-2DC5-C533-C418-B4C6020BAC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1" r="20276"/>
          <a:stretch/>
        </p:blipFill>
        <p:spPr>
          <a:xfrm>
            <a:off x="2628930" y="644769"/>
            <a:ext cx="3168352" cy="271222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F159DFE-2FF2-6470-1DB9-93EDB1F9E3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0" r="20276"/>
          <a:stretch/>
        </p:blipFill>
        <p:spPr>
          <a:xfrm>
            <a:off x="2628930" y="3670566"/>
            <a:ext cx="3168352" cy="271222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5B8E9AB-76AB-70C1-7D38-BB1DA4FB3B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05" b="44690"/>
          <a:stretch/>
        </p:blipFill>
        <p:spPr>
          <a:xfrm>
            <a:off x="5797282" y="555432"/>
            <a:ext cx="2303110" cy="286317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101E7CA-FF11-013F-F223-3F3ED7D122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50" b="57981"/>
          <a:stretch/>
        </p:blipFill>
        <p:spPr>
          <a:xfrm>
            <a:off x="0" y="644769"/>
            <a:ext cx="2664296" cy="175694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F826AC4-5043-4B50-7AC2-0A3E81B7F9D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50" b="60176"/>
          <a:stretch/>
        </p:blipFill>
        <p:spPr>
          <a:xfrm>
            <a:off x="22223" y="3618395"/>
            <a:ext cx="2619849" cy="167274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361BE4-4EBB-46A1-0839-EFCB292057D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24" b="44246"/>
          <a:stretch/>
        </p:blipFill>
        <p:spPr>
          <a:xfrm>
            <a:off x="5797282" y="3707732"/>
            <a:ext cx="2303110" cy="281761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B8BE1F-49D3-33D9-FFF9-427BE3BC2177}"/>
              </a:ext>
            </a:extLst>
          </p:cNvPr>
          <p:cNvSpPr txBox="1"/>
          <p:nvPr/>
        </p:nvSpPr>
        <p:spPr>
          <a:xfrm>
            <a:off x="971600" y="260648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＃</a:t>
            </a:r>
            <a:r>
              <a:rPr kumimoji="1" lang="en-US" altLang="ja-JP" sz="2000" dirty="0"/>
              <a:t>800</a:t>
            </a:r>
            <a:endParaRPr kumimoji="1" lang="ja-JP" altLang="en-US" sz="2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5D1DC9-D760-2B3A-6F5F-EE0CB77E98B8}"/>
              </a:ext>
            </a:extLst>
          </p:cNvPr>
          <p:cNvSpPr txBox="1"/>
          <p:nvPr/>
        </p:nvSpPr>
        <p:spPr>
          <a:xfrm>
            <a:off x="895889" y="3211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＃</a:t>
            </a:r>
            <a:r>
              <a:rPr lang="en-US" altLang="ja-JP" sz="2000" dirty="0"/>
              <a:t>12</a:t>
            </a:r>
            <a:r>
              <a:rPr kumimoji="1" lang="en-US" altLang="ja-JP" sz="2000" dirty="0"/>
              <a:t>00</a:t>
            </a:r>
            <a:endParaRPr kumimoji="1" lang="ja-JP" altLang="en-US" sz="20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16767A8-54B5-D5B9-D6F8-C6B0AFB2E806}"/>
              </a:ext>
            </a:extLst>
          </p:cNvPr>
          <p:cNvCxnSpPr/>
          <p:nvPr/>
        </p:nvCxnSpPr>
        <p:spPr bwMode="auto">
          <a:xfrm flipH="1">
            <a:off x="7884368" y="6037257"/>
            <a:ext cx="216024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80CD05-030A-325E-5E1F-06033F0AFBD0}"/>
              </a:ext>
            </a:extLst>
          </p:cNvPr>
          <p:cNvSpPr txBox="1"/>
          <p:nvPr/>
        </p:nvSpPr>
        <p:spPr>
          <a:xfrm>
            <a:off x="8053557" y="5837202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表面粗さ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7C2B086-DD5E-74B3-621B-9D781F494822}"/>
              </a:ext>
            </a:extLst>
          </p:cNvPr>
          <p:cNvCxnSpPr/>
          <p:nvPr/>
        </p:nvCxnSpPr>
        <p:spPr bwMode="auto">
          <a:xfrm flipH="1">
            <a:off x="7884368" y="2942839"/>
            <a:ext cx="216024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9C5F1B-84F7-ED1D-AABF-43DEFD24998F}"/>
              </a:ext>
            </a:extLst>
          </p:cNvPr>
          <p:cNvSpPr txBox="1"/>
          <p:nvPr/>
        </p:nvSpPr>
        <p:spPr>
          <a:xfrm>
            <a:off x="8053557" y="2742784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表面粗さ</a:t>
            </a:r>
          </a:p>
        </p:txBody>
      </p:sp>
    </p:spTree>
    <p:extLst>
      <p:ext uri="{BB962C8B-B14F-4D97-AF65-F5344CB8AC3E}">
        <p14:creationId xmlns:p14="http://schemas.microsoft.com/office/powerpoint/2010/main" val="253581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29BD09-1B83-2E66-F3E5-FBCC8CEA7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7F8F98-E952-DD75-5574-4E0EA4957C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0" r="23820"/>
          <a:stretch/>
        </p:blipFill>
        <p:spPr>
          <a:xfrm>
            <a:off x="2949001" y="3614290"/>
            <a:ext cx="2952329" cy="271222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125A856-531B-C4A6-6DE5-5B1FF68105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0" r="20276"/>
          <a:stretch/>
        </p:blipFill>
        <p:spPr>
          <a:xfrm>
            <a:off x="2732977" y="620688"/>
            <a:ext cx="3168353" cy="27122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D06A355-E361-86B1-87A1-5BFCA7E7A9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57" b="60176"/>
          <a:stretch/>
        </p:blipFill>
        <p:spPr>
          <a:xfrm>
            <a:off x="-913" y="663361"/>
            <a:ext cx="2737577" cy="179359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BBF4391-AF7D-80C8-FD00-9975A8BAC8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24" b="38936"/>
          <a:stretch/>
        </p:blipFill>
        <p:spPr>
          <a:xfrm>
            <a:off x="5901330" y="641535"/>
            <a:ext cx="2008623" cy="26913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364BD09-35A4-D8B5-6EBF-9E2343BBEF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430" b="58091"/>
          <a:stretch/>
        </p:blipFill>
        <p:spPr>
          <a:xfrm>
            <a:off x="2459898" y="3590433"/>
            <a:ext cx="439640" cy="179359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62E9955-8181-6F33-ADA9-CE4CFFC94B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0" b="30972"/>
          <a:stretch/>
        </p:blipFill>
        <p:spPr>
          <a:xfrm>
            <a:off x="5950793" y="3449643"/>
            <a:ext cx="2175134" cy="280449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C2CF1EE-455E-61B1-734E-50F531AF2E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" t="35662" r="73431"/>
          <a:stretch/>
        </p:blipFill>
        <p:spPr>
          <a:xfrm>
            <a:off x="130269" y="3573016"/>
            <a:ext cx="2228929" cy="275349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FC9567D-D6CD-CA5C-F846-45B193AB184B}"/>
              </a:ext>
            </a:extLst>
          </p:cNvPr>
          <p:cNvSpPr txBox="1"/>
          <p:nvPr/>
        </p:nvSpPr>
        <p:spPr>
          <a:xfrm>
            <a:off x="505691" y="260648"/>
            <a:ext cx="2475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ダイヤモンド　</a:t>
            </a:r>
            <a:r>
              <a:rPr kumimoji="1" lang="en-US" altLang="ja-JP" sz="2000" dirty="0"/>
              <a:t>0.5 </a:t>
            </a:r>
            <a:r>
              <a:rPr kumimoji="1" lang="en-US" altLang="ja-JP" sz="2000" dirty="0" err="1"/>
              <a:t>μm</a:t>
            </a:r>
            <a:endParaRPr kumimoji="1" lang="ja-JP" altLang="en-US" sz="2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0ABEB9D-F43D-407D-C897-414913C27BF3}"/>
              </a:ext>
            </a:extLst>
          </p:cNvPr>
          <p:cNvSpPr txBox="1"/>
          <p:nvPr/>
        </p:nvSpPr>
        <p:spPr>
          <a:xfrm>
            <a:off x="505691" y="3099560"/>
            <a:ext cx="202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Minimal</a:t>
            </a:r>
            <a:r>
              <a:rPr lang="ja-JP" altLang="en-US" sz="2000" dirty="0"/>
              <a:t> </a:t>
            </a:r>
            <a:r>
              <a:rPr lang="en-US" altLang="ja-JP" sz="2000" dirty="0"/>
              <a:t>BG</a:t>
            </a:r>
            <a:r>
              <a:rPr lang="ja-JP" altLang="en-US" sz="2000" dirty="0"/>
              <a:t>装置</a:t>
            </a:r>
            <a:endParaRPr kumimoji="1" lang="ja-JP" altLang="en-US" sz="2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358982-26C9-5456-6F31-135A0065FB36}"/>
              </a:ext>
            </a:extLst>
          </p:cNvPr>
          <p:cNvSpPr txBox="1"/>
          <p:nvPr/>
        </p:nvSpPr>
        <p:spPr>
          <a:xfrm>
            <a:off x="5587794" y="6216174"/>
            <a:ext cx="3225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lang="ja-JP" altLang="en-US" sz="1400" dirty="0"/>
              <a:t>サンプルが反っている為線粗さで評価</a:t>
            </a:r>
            <a:endParaRPr kumimoji="1" lang="ja-JP" altLang="en-US" sz="1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628B6D3-1AFE-13C5-0A7A-2CB26D11AE45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13D3462-0A80-0790-5BCF-E17947755174}"/>
              </a:ext>
            </a:extLst>
          </p:cNvPr>
          <p:cNvCxnSpPr/>
          <p:nvPr/>
        </p:nvCxnSpPr>
        <p:spPr bwMode="auto">
          <a:xfrm flipH="1">
            <a:off x="7850715" y="2904453"/>
            <a:ext cx="216024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66AD00-B599-8892-B7C6-BB234532CE3A}"/>
              </a:ext>
            </a:extLst>
          </p:cNvPr>
          <p:cNvSpPr txBox="1"/>
          <p:nvPr/>
        </p:nvSpPr>
        <p:spPr>
          <a:xfrm>
            <a:off x="8019904" y="2704398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表面粗さ</a:t>
            </a:r>
          </a:p>
        </p:txBody>
      </p:sp>
    </p:spTree>
    <p:extLst>
      <p:ext uri="{BB962C8B-B14F-4D97-AF65-F5344CB8AC3E}">
        <p14:creationId xmlns:p14="http://schemas.microsoft.com/office/powerpoint/2010/main" val="84067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F6435-9637-B379-C6F2-4F39F3914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1CDC94C-B8F4-253E-E2FE-F58615FDC8E7}"/>
              </a:ext>
            </a:extLst>
          </p:cNvPr>
          <p:cNvSpPr txBox="1"/>
          <p:nvPr/>
        </p:nvSpPr>
        <p:spPr>
          <a:xfrm>
            <a:off x="0" y="260648"/>
            <a:ext cx="8028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SIMS</a:t>
            </a:r>
            <a:r>
              <a:rPr lang="ja-JP" altLang="en-US" dirty="0"/>
              <a:t>用</a:t>
            </a:r>
            <a:r>
              <a:rPr lang="en-US" altLang="ja-JP" dirty="0"/>
              <a:t>TEG</a:t>
            </a:r>
            <a:endParaRPr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993A82-01D1-E77E-F76C-C5677FA572B4}"/>
              </a:ext>
            </a:extLst>
          </p:cNvPr>
          <p:cNvSpPr/>
          <p:nvPr/>
        </p:nvSpPr>
        <p:spPr bwMode="auto">
          <a:xfrm>
            <a:off x="272333" y="2340303"/>
            <a:ext cx="3312368" cy="114709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505176-87AE-E662-2417-CA4DCAD29710}"/>
              </a:ext>
            </a:extLst>
          </p:cNvPr>
          <p:cNvSpPr/>
          <p:nvPr/>
        </p:nvSpPr>
        <p:spPr bwMode="auto">
          <a:xfrm>
            <a:off x="272333" y="2153971"/>
            <a:ext cx="3312368" cy="187559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5F9813-ADE6-8E87-D4E0-7418C28F2670}"/>
              </a:ext>
            </a:extLst>
          </p:cNvPr>
          <p:cNvSpPr/>
          <p:nvPr/>
        </p:nvSpPr>
        <p:spPr bwMode="auto">
          <a:xfrm>
            <a:off x="272333" y="2073062"/>
            <a:ext cx="3312368" cy="7954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68E4BB-4B6C-418B-3540-9202C81B34CC}"/>
              </a:ext>
            </a:extLst>
          </p:cNvPr>
          <p:cNvSpPr/>
          <p:nvPr/>
        </p:nvSpPr>
        <p:spPr bwMode="auto">
          <a:xfrm>
            <a:off x="272333" y="1750798"/>
            <a:ext cx="3312368" cy="332274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F624D1A-0601-65FF-2BDE-B3993B5E2CA9}"/>
              </a:ext>
            </a:extLst>
          </p:cNvPr>
          <p:cNvCxnSpPr/>
          <p:nvPr/>
        </p:nvCxnSpPr>
        <p:spPr bwMode="auto">
          <a:xfrm>
            <a:off x="3635896" y="1682064"/>
            <a:ext cx="0" cy="322264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2CE888A-8DEB-473F-D52F-49681E6B9C8A}"/>
              </a:ext>
            </a:extLst>
          </p:cNvPr>
          <p:cNvSpPr txBox="1"/>
          <p:nvPr/>
        </p:nvSpPr>
        <p:spPr>
          <a:xfrm>
            <a:off x="3601226" y="170080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任意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2A16C67-B357-2985-90E6-A8F8C74BA020}"/>
              </a:ext>
            </a:extLst>
          </p:cNvPr>
          <p:cNvCxnSpPr/>
          <p:nvPr/>
        </p:nvCxnSpPr>
        <p:spPr bwMode="auto">
          <a:xfrm>
            <a:off x="3635896" y="2029706"/>
            <a:ext cx="0" cy="16537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58B586-430C-B8CB-9DC2-E2F10B0F019F}"/>
              </a:ext>
            </a:extLst>
          </p:cNvPr>
          <p:cNvSpPr txBox="1"/>
          <p:nvPr/>
        </p:nvSpPr>
        <p:spPr>
          <a:xfrm>
            <a:off x="3601226" y="1916832"/>
            <a:ext cx="875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&lt;20 nm</a:t>
            </a:r>
            <a:endParaRPr kumimoji="1" lang="ja-JP" altLang="en-US" sz="1600" dirty="0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7AC89F5-8D8F-B108-5EA3-451382E23056}"/>
              </a:ext>
            </a:extLst>
          </p:cNvPr>
          <p:cNvCxnSpPr/>
          <p:nvPr/>
        </p:nvCxnSpPr>
        <p:spPr bwMode="auto">
          <a:xfrm>
            <a:off x="3635896" y="2215591"/>
            <a:ext cx="0" cy="16537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D18900-C4A6-C590-763B-9DF91056FA8D}"/>
              </a:ext>
            </a:extLst>
          </p:cNvPr>
          <p:cNvSpPr txBox="1"/>
          <p:nvPr/>
        </p:nvSpPr>
        <p:spPr>
          <a:xfrm>
            <a:off x="3601226" y="2132856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200~235 nm</a:t>
            </a:r>
            <a:endParaRPr kumimoji="1" lang="ja-JP" altLang="en-US" sz="16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81326E8-159B-8D36-8E01-06429BDFB257}"/>
              </a:ext>
            </a:extLst>
          </p:cNvPr>
          <p:cNvCxnSpPr/>
          <p:nvPr/>
        </p:nvCxnSpPr>
        <p:spPr bwMode="auto">
          <a:xfrm>
            <a:off x="3635896" y="2490834"/>
            <a:ext cx="0" cy="101140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DAE4409-AF32-F673-A8D2-C126B4FBAD72}"/>
              </a:ext>
            </a:extLst>
          </p:cNvPr>
          <p:cNvSpPr txBox="1"/>
          <p:nvPr/>
        </p:nvSpPr>
        <p:spPr>
          <a:xfrm>
            <a:off x="3601226" y="2795099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250</a:t>
            </a:r>
            <a:r>
              <a:rPr lang="ja-JP" altLang="en-US" sz="1600" dirty="0"/>
              <a:t> </a:t>
            </a:r>
            <a:r>
              <a:rPr lang="en-US" altLang="ja-JP" sz="1600" dirty="0"/>
              <a:t>um</a:t>
            </a:r>
            <a:endParaRPr kumimoji="1" lang="ja-JP" altLang="en-US" sz="16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6BAAE2C-AEDD-EFCB-06F8-3E990687924E}"/>
              </a:ext>
            </a:extLst>
          </p:cNvPr>
          <p:cNvSpPr txBox="1"/>
          <p:nvPr/>
        </p:nvSpPr>
        <p:spPr>
          <a:xfrm>
            <a:off x="3430437" y="1242284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2021</a:t>
            </a:r>
            <a:r>
              <a:rPr kumimoji="1" lang="ja-JP" altLang="en-US" sz="1600" dirty="0"/>
              <a:t>試験準拠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A2569F6-54A9-948B-1F62-57A8404C4A33}"/>
              </a:ext>
            </a:extLst>
          </p:cNvPr>
          <p:cNvSpPr txBox="1"/>
          <p:nvPr/>
        </p:nvSpPr>
        <p:spPr>
          <a:xfrm>
            <a:off x="5108077" y="1256230"/>
            <a:ext cx="3504486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・ウェハ全面にパターン無しで作成</a:t>
            </a:r>
            <a:endParaRPr kumimoji="1" lang="en-US" altLang="ja-JP" sz="1800" dirty="0"/>
          </a:p>
          <a:p>
            <a:r>
              <a:rPr lang="ja-JP" altLang="en-US" sz="1800" dirty="0"/>
              <a:t>・各目標膜厚は未定</a:t>
            </a:r>
            <a:endParaRPr kumimoji="1" lang="ja-JP" altLang="en-US" sz="1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4651B8-7FE3-1759-EF81-32A5A209C8BC}"/>
              </a:ext>
            </a:extLst>
          </p:cNvPr>
          <p:cNvSpPr txBox="1"/>
          <p:nvPr/>
        </p:nvSpPr>
        <p:spPr>
          <a:xfrm>
            <a:off x="4649022" y="4249443"/>
            <a:ext cx="1851789" cy="1034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TEOS-</a:t>
            </a:r>
            <a:r>
              <a:rPr kumimoji="1" lang="en-US" altLang="ja-JP" sz="1800" dirty="0" err="1"/>
              <a:t>SiO</a:t>
            </a:r>
            <a:r>
              <a:rPr kumimoji="1" lang="ja-JP" altLang="en-US" sz="1800" dirty="0"/>
              <a:t>₂条件</a:t>
            </a:r>
            <a:endParaRPr kumimoji="1" lang="en-US" altLang="ja-JP" sz="1800" dirty="0"/>
          </a:p>
          <a:p>
            <a:r>
              <a:rPr lang="ja-JP" altLang="en-US" sz="1800" dirty="0"/>
              <a:t>・</a:t>
            </a:r>
            <a:r>
              <a:rPr lang="en-US" altLang="ja-JP" sz="1800" dirty="0"/>
              <a:t>300</a:t>
            </a:r>
            <a:r>
              <a:rPr lang="ja-JP" altLang="en-US" sz="1800" dirty="0"/>
              <a:t>℃</a:t>
            </a:r>
            <a:endParaRPr lang="en-US" altLang="ja-JP" sz="1800" dirty="0"/>
          </a:p>
          <a:p>
            <a:r>
              <a:rPr kumimoji="1" lang="ja-JP" altLang="en-US" sz="1800" dirty="0"/>
              <a:t>・</a:t>
            </a:r>
            <a:r>
              <a:rPr kumimoji="1" lang="en-US" altLang="ja-JP" sz="1800" dirty="0"/>
              <a:t>200 nm</a:t>
            </a:r>
            <a:r>
              <a:rPr kumimoji="1" lang="ja-JP" altLang="en-US" sz="1800" dirty="0"/>
              <a:t>＜目標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00DD01A-31EB-9FD0-CF9E-3BF08E949656}"/>
              </a:ext>
            </a:extLst>
          </p:cNvPr>
          <p:cNvSpPr txBox="1"/>
          <p:nvPr/>
        </p:nvSpPr>
        <p:spPr>
          <a:xfrm>
            <a:off x="4649022" y="5345859"/>
            <a:ext cx="4126001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Ti: </a:t>
            </a:r>
            <a:r>
              <a:rPr lang="en-US" altLang="ja-JP" sz="1800" dirty="0" err="1"/>
              <a:t>Ar</a:t>
            </a:r>
            <a:r>
              <a:rPr lang="ja-JP" altLang="en-US" sz="1800" dirty="0"/>
              <a:t>：</a:t>
            </a:r>
            <a:r>
              <a:rPr lang="en-US" altLang="ja-JP" sz="1800" dirty="0"/>
              <a:t>10</a:t>
            </a:r>
            <a:r>
              <a:rPr lang="ja-JP" altLang="en-US" sz="1800" dirty="0"/>
              <a:t> </a:t>
            </a:r>
            <a:r>
              <a:rPr lang="en-US" altLang="ja-JP" sz="1800" dirty="0" err="1"/>
              <a:t>sccm</a:t>
            </a:r>
            <a:r>
              <a:rPr lang="en-US" altLang="ja-JP" sz="1800" dirty="0"/>
              <a:t>,</a:t>
            </a:r>
            <a:r>
              <a:rPr lang="ja-JP" altLang="en-US" sz="1800" dirty="0"/>
              <a:t> </a:t>
            </a:r>
            <a:r>
              <a:rPr lang="en-US" altLang="ja-JP" sz="1800" dirty="0"/>
              <a:t>1.5 Pa,</a:t>
            </a:r>
            <a:r>
              <a:rPr lang="ja-JP" altLang="en-US" sz="1800" dirty="0"/>
              <a:t> </a:t>
            </a:r>
            <a:r>
              <a:rPr lang="en-US" altLang="ja-JP" sz="1800" dirty="0"/>
              <a:t>DC</a:t>
            </a:r>
            <a:r>
              <a:rPr lang="ja-JP" altLang="en-US" sz="1800" dirty="0"/>
              <a:t> </a:t>
            </a:r>
            <a:r>
              <a:rPr lang="en-US" altLang="ja-JP" sz="1800" dirty="0"/>
              <a:t>65 W, </a:t>
            </a:r>
            <a:r>
              <a:rPr lang="ja-JP" altLang="en-US" sz="1800" dirty="0"/>
              <a:t>任意</a:t>
            </a:r>
            <a:endParaRPr lang="en-US" altLang="ja-JP" sz="1800" dirty="0"/>
          </a:p>
          <a:p>
            <a:r>
              <a:rPr lang="en-US" altLang="ja-JP" sz="1800" dirty="0"/>
              <a:t>Cu: </a:t>
            </a:r>
            <a:r>
              <a:rPr lang="en-US" altLang="ja-JP" sz="1800" dirty="0" err="1"/>
              <a:t>Ar</a:t>
            </a:r>
            <a:r>
              <a:rPr lang="ja-JP" altLang="en-US" sz="1800" dirty="0"/>
              <a:t>：</a:t>
            </a:r>
            <a:r>
              <a:rPr lang="en-US" altLang="ja-JP" sz="1800" dirty="0"/>
              <a:t>10</a:t>
            </a:r>
            <a:r>
              <a:rPr lang="ja-JP" altLang="en-US" sz="1800" dirty="0"/>
              <a:t> </a:t>
            </a:r>
            <a:r>
              <a:rPr lang="en-US" altLang="ja-JP" sz="1800" dirty="0" err="1"/>
              <a:t>sccm</a:t>
            </a:r>
            <a:r>
              <a:rPr lang="en-US" altLang="ja-JP" sz="1800" dirty="0"/>
              <a:t>,</a:t>
            </a:r>
            <a:r>
              <a:rPr lang="ja-JP" altLang="en-US" sz="1800" dirty="0"/>
              <a:t> </a:t>
            </a:r>
            <a:r>
              <a:rPr lang="en-US" altLang="ja-JP" sz="1800" dirty="0"/>
              <a:t>1 Pa,</a:t>
            </a:r>
            <a:r>
              <a:rPr lang="ja-JP" altLang="en-US" sz="1800" dirty="0"/>
              <a:t> </a:t>
            </a:r>
            <a:r>
              <a:rPr lang="en-US" altLang="ja-JP" sz="1800" dirty="0"/>
              <a:t>DC</a:t>
            </a:r>
            <a:r>
              <a:rPr lang="ja-JP" altLang="en-US" sz="1800" dirty="0"/>
              <a:t> </a:t>
            </a:r>
            <a:r>
              <a:rPr lang="en-US" altLang="ja-JP" sz="1800" dirty="0"/>
              <a:t>70 W, </a:t>
            </a:r>
            <a:r>
              <a:rPr lang="ja-JP" altLang="en-US" sz="1800" dirty="0"/>
              <a:t>任意</a:t>
            </a:r>
            <a:endParaRPr lang="en-US" altLang="ja-JP" sz="18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26A8B20-1ECA-08F9-D46D-CD26E5F8EE02}"/>
              </a:ext>
            </a:extLst>
          </p:cNvPr>
          <p:cNvSpPr txBox="1"/>
          <p:nvPr/>
        </p:nvSpPr>
        <p:spPr>
          <a:xfrm>
            <a:off x="272333" y="170505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Cu</a:t>
            </a:r>
            <a:endParaRPr kumimoji="1" lang="ja-JP" altLang="en-US" sz="18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2389348-022E-2121-7753-CC284331BC36}"/>
              </a:ext>
            </a:extLst>
          </p:cNvPr>
          <p:cNvSpPr txBox="1"/>
          <p:nvPr/>
        </p:nvSpPr>
        <p:spPr>
          <a:xfrm>
            <a:off x="231293" y="2059265"/>
            <a:ext cx="1510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TEOS-</a:t>
            </a:r>
            <a:r>
              <a:rPr kumimoji="1" lang="en-US" altLang="ja-JP" sz="1800" dirty="0" err="1"/>
              <a:t>SiO</a:t>
            </a:r>
            <a:r>
              <a:rPr kumimoji="1" lang="ja-JP" altLang="en-US" sz="1800" dirty="0"/>
              <a:t>₂</a:t>
            </a:r>
            <a:endParaRPr lang="ja-JP" altLang="en-US" sz="18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52623A-7A9A-E4C7-91B8-F9F1167B82D4}"/>
              </a:ext>
            </a:extLst>
          </p:cNvPr>
          <p:cNvSpPr txBox="1"/>
          <p:nvPr/>
        </p:nvSpPr>
        <p:spPr>
          <a:xfrm>
            <a:off x="231293" y="3111557"/>
            <a:ext cx="1510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Si</a:t>
            </a:r>
            <a:endParaRPr lang="ja-JP" altLang="en-US" sz="1800" dirty="0"/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4854E54B-0213-5035-3FBD-C62BC5646F83}"/>
              </a:ext>
            </a:extLst>
          </p:cNvPr>
          <p:cNvCxnSpPr/>
          <p:nvPr/>
        </p:nvCxnSpPr>
        <p:spPr bwMode="auto">
          <a:xfrm flipH="1">
            <a:off x="2411760" y="1624008"/>
            <a:ext cx="576677" cy="48882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483A150-8185-F64E-F481-2EA76050FF0D}"/>
              </a:ext>
            </a:extLst>
          </p:cNvPr>
          <p:cNvSpPr txBox="1"/>
          <p:nvPr/>
        </p:nvSpPr>
        <p:spPr>
          <a:xfrm>
            <a:off x="2892752" y="1433715"/>
            <a:ext cx="3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Ti</a:t>
            </a:r>
            <a:endParaRPr kumimoji="1" lang="ja-JP" altLang="en-US" sz="1800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99A4920-05DD-1C2A-93BA-E2696100C4F2}"/>
              </a:ext>
            </a:extLst>
          </p:cNvPr>
          <p:cNvSpPr/>
          <p:nvPr/>
        </p:nvSpPr>
        <p:spPr bwMode="auto">
          <a:xfrm>
            <a:off x="594957" y="3952215"/>
            <a:ext cx="2608891" cy="26088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B1AAA07-1221-C475-2701-33820F07D054}"/>
              </a:ext>
            </a:extLst>
          </p:cNvPr>
          <p:cNvCxnSpPr/>
          <p:nvPr/>
        </p:nvCxnSpPr>
        <p:spPr bwMode="auto">
          <a:xfrm>
            <a:off x="1333591" y="6413033"/>
            <a:ext cx="1190664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楕円 52">
            <a:extLst>
              <a:ext uri="{FF2B5EF4-FFF2-40B4-BE49-F238E27FC236}">
                <a16:creationId xmlns:a16="http://schemas.microsoft.com/office/drawing/2014/main" id="{1ACDE3E0-A8B7-65E0-3619-64BFAC4B3F3F}"/>
              </a:ext>
            </a:extLst>
          </p:cNvPr>
          <p:cNvSpPr/>
          <p:nvPr/>
        </p:nvSpPr>
        <p:spPr bwMode="auto">
          <a:xfrm>
            <a:off x="760630" y="4108777"/>
            <a:ext cx="2268000" cy="2268000"/>
          </a:xfrm>
          <a:prstGeom prst="ellipse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02206FF3-1A63-4600-9E83-D27A484C5C19}"/>
              </a:ext>
            </a:extLst>
          </p:cNvPr>
          <p:cNvSpPr/>
          <p:nvPr/>
        </p:nvSpPr>
        <p:spPr bwMode="auto">
          <a:xfrm>
            <a:off x="763218" y="4108777"/>
            <a:ext cx="2268000" cy="226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F9D56B23-643E-1CAA-DA52-38C761E7EE8F}"/>
              </a:ext>
            </a:extLst>
          </p:cNvPr>
          <p:cNvSpPr/>
          <p:nvPr/>
        </p:nvSpPr>
        <p:spPr bwMode="auto">
          <a:xfrm>
            <a:off x="760431" y="4108777"/>
            <a:ext cx="2268000" cy="2268000"/>
          </a:xfrm>
          <a:prstGeom prst="ellipse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431494D-9892-5F82-143F-3D4D526C4C59}"/>
              </a:ext>
            </a:extLst>
          </p:cNvPr>
          <p:cNvSpPr txBox="1"/>
          <p:nvPr/>
        </p:nvSpPr>
        <p:spPr>
          <a:xfrm>
            <a:off x="1218751" y="3551071"/>
            <a:ext cx="118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Top view</a:t>
            </a:r>
            <a:endParaRPr kumimoji="1" lang="ja-JP" altLang="en-US" sz="2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1ACB4DD-173B-41BF-893E-695DCC512D43}"/>
              </a:ext>
            </a:extLst>
          </p:cNvPr>
          <p:cNvSpPr txBox="1"/>
          <p:nvPr/>
        </p:nvSpPr>
        <p:spPr>
          <a:xfrm>
            <a:off x="723312" y="1044816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Cross-sectional</a:t>
            </a:r>
            <a:r>
              <a:rPr lang="ja-JP" altLang="en-US" sz="2000" dirty="0"/>
              <a:t> </a:t>
            </a:r>
            <a:r>
              <a:rPr kumimoji="1" lang="en-US" altLang="ja-JP" sz="2000" dirty="0"/>
              <a:t>view</a:t>
            </a:r>
            <a:endParaRPr kumimoji="1" lang="ja-JP" altLang="en-US" sz="20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0080204-C2BB-7B7A-192B-53024C7D1D4B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092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E7B84C-11CD-BE11-C41B-EF0758CBA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1EDD1-EE9D-47D8-8480-02FCC65D66F6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49FAA6-B03A-7683-9D1F-C1C198E0D9CC}"/>
              </a:ext>
            </a:extLst>
          </p:cNvPr>
          <p:cNvSpPr/>
          <p:nvPr/>
        </p:nvSpPr>
        <p:spPr>
          <a:xfrm flipV="1">
            <a:off x="777521" y="1754760"/>
            <a:ext cx="2986876" cy="23454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155745-2C7A-6071-5664-83A0BD70D5D4}"/>
              </a:ext>
            </a:extLst>
          </p:cNvPr>
          <p:cNvSpPr/>
          <p:nvPr/>
        </p:nvSpPr>
        <p:spPr bwMode="auto">
          <a:xfrm>
            <a:off x="1772145" y="1178696"/>
            <a:ext cx="864096" cy="2592288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A16F601-86BA-CAFD-5848-6D26DB02245F}"/>
              </a:ext>
            </a:extLst>
          </p:cNvPr>
          <p:cNvSpPr/>
          <p:nvPr/>
        </p:nvSpPr>
        <p:spPr bwMode="auto">
          <a:xfrm>
            <a:off x="777521" y="891365"/>
            <a:ext cx="2986876" cy="8640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157530-C3B9-B63D-F0BA-509025E5FD20}"/>
              </a:ext>
            </a:extLst>
          </p:cNvPr>
          <p:cNvSpPr/>
          <p:nvPr/>
        </p:nvSpPr>
        <p:spPr bwMode="auto">
          <a:xfrm>
            <a:off x="779786" y="1598313"/>
            <a:ext cx="2980455" cy="16446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0812647-44DD-99C7-F4A7-C750D1FA4E88}"/>
              </a:ext>
            </a:extLst>
          </p:cNvPr>
          <p:cNvSpPr/>
          <p:nvPr/>
        </p:nvSpPr>
        <p:spPr bwMode="auto">
          <a:xfrm>
            <a:off x="1870017" y="1178695"/>
            <a:ext cx="648072" cy="252098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0D110D-A41D-A3A1-234A-354F5E1CEEB4}"/>
              </a:ext>
            </a:extLst>
          </p:cNvPr>
          <p:cNvSpPr txBox="1"/>
          <p:nvPr/>
        </p:nvSpPr>
        <p:spPr>
          <a:xfrm>
            <a:off x="683568" y="4594483"/>
            <a:ext cx="331236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・工程</a:t>
            </a:r>
            <a:r>
              <a:rPr lang="en-US" altLang="ja-JP" sz="2000" dirty="0"/>
              <a:t>20</a:t>
            </a:r>
            <a:r>
              <a:rPr lang="ja-JP" altLang="en-US" sz="2000" dirty="0"/>
              <a:t>まで実施</a:t>
            </a:r>
            <a:endParaRPr lang="en-US" altLang="ja-JP" sz="2000" dirty="0"/>
          </a:p>
          <a:p>
            <a:r>
              <a:rPr kumimoji="1" lang="ja-JP" altLang="en-US" sz="2000" dirty="0"/>
              <a:t>・ウェハを劈開し断面作製</a:t>
            </a:r>
            <a:endParaRPr kumimoji="1" lang="en-US" altLang="ja-JP" sz="2000" dirty="0"/>
          </a:p>
          <a:p>
            <a:r>
              <a:rPr lang="ja-JP" altLang="en-US" sz="2000" dirty="0"/>
              <a:t>・</a:t>
            </a:r>
            <a:r>
              <a:rPr lang="en-US" altLang="ja-JP" sz="2000" dirty="0"/>
              <a:t>FE-SEM</a:t>
            </a:r>
            <a:r>
              <a:rPr lang="ja-JP" altLang="en-US" sz="2000" dirty="0"/>
              <a:t>で観察し膜厚測定</a:t>
            </a:r>
            <a:endParaRPr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TSOS</a:t>
            </a:r>
            <a:r>
              <a:rPr kumimoji="1" lang="ja-JP" altLang="en-US" sz="2000" dirty="0"/>
              <a:t>成膜温度各１枚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0FF53D-542E-0155-2D39-E78B53EC79A3}"/>
              </a:ext>
            </a:extLst>
          </p:cNvPr>
          <p:cNvSpPr txBox="1"/>
          <p:nvPr/>
        </p:nvSpPr>
        <p:spPr>
          <a:xfrm>
            <a:off x="1187624" y="940974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/>
              <a:t>TEOS</a:t>
            </a:r>
            <a:r>
              <a:rPr kumimoji="1" lang="ja-JP" altLang="en-US" sz="1800" dirty="0"/>
              <a:t>膜厚評価用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43E23F-1334-025C-5245-4F899FD78AB0}"/>
              </a:ext>
            </a:extLst>
          </p:cNvPr>
          <p:cNvSpPr/>
          <p:nvPr/>
        </p:nvSpPr>
        <p:spPr>
          <a:xfrm flipV="1">
            <a:off x="5379605" y="1754760"/>
            <a:ext cx="2986876" cy="23454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6A141BE-3481-8255-3E3A-AFAF27B9F9FE}"/>
              </a:ext>
            </a:extLst>
          </p:cNvPr>
          <p:cNvSpPr/>
          <p:nvPr/>
        </p:nvSpPr>
        <p:spPr bwMode="auto">
          <a:xfrm>
            <a:off x="6374229" y="1178696"/>
            <a:ext cx="864096" cy="2592288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D49FA2F-C37A-2590-791A-E3BAEEF7F093}"/>
              </a:ext>
            </a:extLst>
          </p:cNvPr>
          <p:cNvSpPr/>
          <p:nvPr/>
        </p:nvSpPr>
        <p:spPr bwMode="auto">
          <a:xfrm>
            <a:off x="5381870" y="1598313"/>
            <a:ext cx="2980455" cy="16446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14BDF9-8F3F-6E76-2B18-080201E60B84}"/>
              </a:ext>
            </a:extLst>
          </p:cNvPr>
          <p:cNvSpPr/>
          <p:nvPr/>
        </p:nvSpPr>
        <p:spPr bwMode="auto">
          <a:xfrm>
            <a:off x="6472101" y="1178695"/>
            <a:ext cx="648072" cy="252098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EAC347D-B225-CFA4-CE0C-DD8B27D777D4}"/>
              </a:ext>
            </a:extLst>
          </p:cNvPr>
          <p:cNvSpPr/>
          <p:nvPr/>
        </p:nvSpPr>
        <p:spPr bwMode="auto">
          <a:xfrm>
            <a:off x="5381870" y="1548028"/>
            <a:ext cx="2986876" cy="5028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9B7FFD0-7ADE-20A4-9EA3-5D8C9E163454}"/>
              </a:ext>
            </a:extLst>
          </p:cNvPr>
          <p:cNvSpPr/>
          <p:nvPr/>
        </p:nvSpPr>
        <p:spPr bwMode="auto">
          <a:xfrm>
            <a:off x="5367240" y="1503782"/>
            <a:ext cx="2986876" cy="50285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1CFD9A4-D86C-428D-F766-053FD1D11BFE}"/>
              </a:ext>
            </a:extLst>
          </p:cNvPr>
          <p:cNvSpPr/>
          <p:nvPr/>
        </p:nvSpPr>
        <p:spPr bwMode="auto">
          <a:xfrm>
            <a:off x="6529904" y="1107389"/>
            <a:ext cx="535596" cy="2520981"/>
          </a:xfrm>
          <a:prstGeom prst="rect">
            <a:avLst/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13F339E-8B32-182A-CA22-32661FD06700}"/>
              </a:ext>
            </a:extLst>
          </p:cNvPr>
          <p:cNvSpPr/>
          <p:nvPr/>
        </p:nvSpPr>
        <p:spPr bwMode="auto">
          <a:xfrm>
            <a:off x="6575020" y="1280224"/>
            <a:ext cx="458233" cy="23042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C674D03-5723-ECA2-52AE-FEC771EC11E8}"/>
              </a:ext>
            </a:extLst>
          </p:cNvPr>
          <p:cNvSpPr/>
          <p:nvPr/>
        </p:nvSpPr>
        <p:spPr bwMode="auto">
          <a:xfrm>
            <a:off x="5292080" y="971168"/>
            <a:ext cx="3312368" cy="53203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5600" tIns="39600" rIns="75600" bIns="396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314EEA-8062-248E-B486-277C0C7A0E89}"/>
              </a:ext>
            </a:extLst>
          </p:cNvPr>
          <p:cNvSpPr txBox="1"/>
          <p:nvPr/>
        </p:nvSpPr>
        <p:spPr>
          <a:xfrm>
            <a:off x="6057069" y="940974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めっき評価用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2BD03E0-5ED8-AF06-9E17-2C1D87B2918D}"/>
              </a:ext>
            </a:extLst>
          </p:cNvPr>
          <p:cNvSpPr txBox="1"/>
          <p:nvPr/>
        </p:nvSpPr>
        <p:spPr>
          <a:xfrm>
            <a:off x="5004048" y="4594483"/>
            <a:ext cx="403244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・工程</a:t>
            </a:r>
            <a:r>
              <a:rPr lang="en-US" altLang="ja-JP" sz="2000" dirty="0"/>
              <a:t>22</a:t>
            </a:r>
            <a:r>
              <a:rPr lang="ja-JP" altLang="en-US" sz="2000" dirty="0"/>
              <a:t>まで実施</a:t>
            </a:r>
            <a:endParaRPr lang="en-US" altLang="ja-JP" sz="2000" dirty="0"/>
          </a:p>
          <a:p>
            <a:r>
              <a:rPr kumimoji="1" lang="ja-JP" altLang="en-US" sz="2000" dirty="0"/>
              <a:t>・めっきは熊本防錆に発注</a:t>
            </a:r>
            <a:endParaRPr kumimoji="1" lang="en-US" altLang="ja-JP" sz="2000" dirty="0"/>
          </a:p>
          <a:p>
            <a:r>
              <a:rPr lang="ja-JP" altLang="en-US" sz="2000" dirty="0"/>
              <a:t>・熊本防錆側の条件確認用</a:t>
            </a:r>
            <a:endParaRPr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10</a:t>
            </a:r>
            <a:r>
              <a:rPr kumimoji="1" lang="ja-JP" altLang="en-US" sz="2000" dirty="0"/>
              <a:t>枚（</a:t>
            </a:r>
            <a:r>
              <a:rPr kumimoji="1" lang="en-US" altLang="ja-JP" sz="2000" dirty="0"/>
              <a:t>I/V</a:t>
            </a:r>
            <a:r>
              <a:rPr lang="ja-JP" altLang="en-US" sz="2000" dirty="0"/>
              <a:t> </a:t>
            </a:r>
            <a:r>
              <a:rPr kumimoji="1" lang="ja-JP" altLang="en-US" sz="2000" dirty="0"/>
              <a:t>５枚</a:t>
            </a:r>
            <a:r>
              <a:rPr kumimoji="1" lang="en-US" altLang="ja-JP" sz="2000" dirty="0"/>
              <a:t>, IR-OBIRCH 5</a:t>
            </a:r>
            <a:r>
              <a:rPr kumimoji="1" lang="ja-JP" altLang="en-US" sz="2000" dirty="0"/>
              <a:t>枚）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E3FCBC8-A7F6-24E2-7AE0-9D5B78111619}"/>
              </a:ext>
            </a:extLst>
          </p:cNvPr>
          <p:cNvSpPr txBox="1"/>
          <p:nvPr/>
        </p:nvSpPr>
        <p:spPr>
          <a:xfrm>
            <a:off x="7573416" y="220578"/>
            <a:ext cx="1535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Confidential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021F02-3280-D982-389A-6501932EDB17}"/>
              </a:ext>
            </a:extLst>
          </p:cNvPr>
          <p:cNvSpPr txBox="1"/>
          <p:nvPr/>
        </p:nvSpPr>
        <p:spPr>
          <a:xfrm>
            <a:off x="13640" y="260648"/>
            <a:ext cx="578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条件検討用</a:t>
            </a:r>
          </a:p>
        </p:txBody>
      </p:sp>
    </p:spTree>
    <p:extLst>
      <p:ext uri="{BB962C8B-B14F-4D97-AF65-F5344CB8AC3E}">
        <p14:creationId xmlns:p14="http://schemas.microsoft.com/office/powerpoint/2010/main" val="129219006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75600" tIns="39600" rIns="756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75600" tIns="39600" rIns="756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f95385-7dba-48bc-93fe-8bdaf0f5100e">
      <Terms xmlns="http://schemas.microsoft.com/office/infopath/2007/PartnerControls"/>
    </lcf76f155ced4ddcb4097134ff3c332f>
    <TaxCatchAll xmlns="6f4e352e-8ed0-424d-8eca-2517a6837d6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E70AA7F776FF84C927690D5F9105BB5" ma:contentTypeVersion="13" ma:contentTypeDescription="新しいドキュメントを作成します。" ma:contentTypeScope="" ma:versionID="cbb781e38f7641c6146952970741be0a">
  <xsd:schema xmlns:xsd="http://www.w3.org/2001/XMLSchema" xmlns:xs="http://www.w3.org/2001/XMLSchema" xmlns:p="http://schemas.microsoft.com/office/2006/metadata/properties" xmlns:ns2="0cf95385-7dba-48bc-93fe-8bdaf0f5100e" xmlns:ns3="6f4e352e-8ed0-424d-8eca-2517a6837d60" targetNamespace="http://schemas.microsoft.com/office/2006/metadata/properties" ma:root="true" ma:fieldsID="333abaeadf5720292093786e127cc8a0" ns2:_="" ns3:_="">
    <xsd:import namespace="0cf95385-7dba-48bc-93fe-8bdaf0f5100e"/>
    <xsd:import namespace="6f4e352e-8ed0-424d-8eca-2517a6837d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95385-7dba-48bc-93fe-8bdaf0f510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91633193-145e-4bd2-9df1-c0a19da81d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e352e-8ed0-424d-8eca-2517a6837d6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5bcf5a-ffe2-42e6-94ae-e0b13b6230dd}" ma:internalName="TaxCatchAll" ma:showField="CatchAllData" ma:web="6f4e352e-8ed0-424d-8eca-2517a6837d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358670-ABFC-4BEF-9DC4-47B4487E8BB3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f4e352e-8ed0-424d-8eca-2517a6837d60"/>
    <ds:schemaRef ds:uri="0cf95385-7dba-48bc-93fe-8bdaf0f5100e"/>
  </ds:schemaRefs>
</ds:datastoreItem>
</file>

<file path=customXml/itemProps2.xml><?xml version="1.0" encoding="utf-8"?>
<ds:datastoreItem xmlns:ds="http://schemas.openxmlformats.org/officeDocument/2006/customXml" ds:itemID="{0C83EC11-0BDB-4869-8E73-C68E23D1F5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F25E42-9356-4FAD-9DD4-C0D1D5AE9C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f95385-7dba-48bc-93fe-8bdaf0f5100e"/>
    <ds:schemaRef ds:uri="6f4e352e-8ed0-424d-8eca-2517a6837d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2824</TotalTime>
  <Words>721</Words>
  <Application>Microsoft Office PowerPoint</Application>
  <PresentationFormat>全屏显示(4:3)</PresentationFormat>
  <Paragraphs>150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BIZ UDPゴシック</vt:lpstr>
      <vt:lpstr>Arial</vt:lpstr>
      <vt:lpstr>Times New Roman</vt:lpstr>
      <vt:lpstr>標準デザイン</vt:lpstr>
      <vt:lpstr>Microsoft Excel 工作表</vt:lpstr>
      <vt:lpstr>JST-CREST 2024Sample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08007</dc:creator>
  <cp:lastModifiedBy>咨翔 丁</cp:lastModifiedBy>
  <cp:revision>125</cp:revision>
  <cp:lastPrinted>2018-04-05T02:02:02Z</cp:lastPrinted>
  <dcterms:created xsi:type="dcterms:W3CDTF">2011-01-14T02:07:51Z</dcterms:created>
  <dcterms:modified xsi:type="dcterms:W3CDTF">2025-09-04T05:20:04Z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0x010100BE70AA7F776FF84C927690D5F9105BB5</vt:lpwstr>
  </property>
  <property fmtid="{D5CDD505-2E9C-101B-9397-08002B2CF9AE}" pid="3" name="MediaServiceImageTags">
    <vt:lpwstr/>
  </property>
</Properties>
</file>